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Branch</c:v>
                </c:pt>
              </c:strCache>
            </c:strRef>
          </c:tx>
          <c:spPr>
            <a:solidFill>
              <a:schemeClr val="accent1"/>
            </a:solidFill>
            <a:ln w="9525" cap="flat">
              <a:solidFill>
                <a:srgbClr val="F9F9F9"/>
              </a:solidFill>
              <a:prstDash val="solid"/>
              <a:round/>
            </a:ln>
            <a:effectLst/>
          </c:spPr>
          <c:dPt>
            <c:idx val="0"/>
            <c:bubble3D val="0"/>
            <c:spPr>
              <a:solidFill>
                <a:srgbClr val="065A82"/>
              </a:solidFill>
              <a:effectLst/>
            </c:spPr>
          </c:dPt>
          <c:dPt>
            <c:idx val="1"/>
            <c:bubble3D val="0"/>
            <c:spPr>
              <a:solidFill>
                <a:srgbClr val="F2A359"/>
              </a:solidFill>
              <a:effectLst/>
            </c:spPr>
          </c:dPt>
          <c:dPt>
            <c:idx val="2"/>
            <c:bubble3D val="0"/>
            <c:spPr>
              <a:solidFill>
                <a:srgbClr val="1C7293"/>
              </a:solidFill>
              <a:effectLst/>
            </c:spPr>
          </c:dPt>
          <c:dPt>
            <c:idx val="3"/>
            <c:bubble3D val="0"/>
            <c:spPr>
              <a:solidFill>
                <a:srgbClr val="B7CADB"/>
              </a:solidFill>
              <a:effectLst/>
            </c:spPr>
          </c:dPt>
          <c:dLbls>
            <c:dLbl>
              <c:idx val="0"/>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CSE (Specialisation)</c:v>
                </c:pt>
                <c:pt idx="1">
                  <c:v>ECE</c:v>
                </c:pt>
                <c:pt idx="2">
                  <c:v>Civil</c:v>
                </c:pt>
                <c:pt idx="3">
                  <c:v>Other</c:v>
                </c:pt>
              </c:strCache>
            </c:strRef>
          </c:cat>
          <c:val>
            <c:numRef>
              <c:f>Sheet1!$B$2:$B$5</c:f>
              <c:numCache>
                <c:ptCount val="4"/>
                <c:pt idx="0">
                  <c:v>85</c:v>
                </c:pt>
                <c:pt idx="1">
                  <c:v>5</c:v>
                </c:pt>
                <c:pt idx="2">
                  <c:v>5</c:v>
                </c:pt>
                <c:pt idx="3">
                  <c:v>5</c:v>
                </c:pt>
              </c:numCache>
            </c:numRef>
          </c:val>
        </c:ser>
        <c:firstSliceAng val="0"/>
      </c:pieChart>
      <c:spPr>
        <a:noFill/>
        <a:ln>
          <a:noFill/>
        </a:ln>
        <a:effectLst/>
      </c:spPr>
    </c:plotArea>
    <c:legend>
      <c:legendPos val="b"/>
      <c:overlay val="0"/>
      <c:txPr>
        <a:bodyPr/>
        <a:lstStyle/>
        <a:p>
          <a:pPr>
            <a:defRPr sz="1100">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Hours</c:v>
                </c:pt>
              </c:strCache>
            </c:strRef>
          </c:tx>
          <c:spPr>
            <a:solidFill>
              <a:schemeClr val="accent1"/>
            </a:solidFill>
            <a:ln w="9525" cap="flat">
              <a:solidFill>
                <a:srgbClr val="F9F9F9"/>
              </a:solidFill>
              <a:prstDash val="solid"/>
              <a:round/>
            </a:ln>
            <a:effectLst/>
          </c:spPr>
          <c:dPt>
            <c:idx val="0"/>
            <c:bubble3D val="0"/>
            <c:spPr>
              <a:solidFill>
                <a:srgbClr val="065A82"/>
              </a:solidFill>
              <a:effectLst/>
            </c:spPr>
          </c:dPt>
          <c:dPt>
            <c:idx val="1"/>
            <c:bubble3D val="0"/>
            <c:spPr>
              <a:solidFill>
                <a:srgbClr val="F2A359"/>
              </a:solidFill>
              <a:effectLst/>
            </c:spPr>
          </c:dPt>
          <c:dPt>
            <c:idx val="2"/>
            <c:bubble3D val="0"/>
            <c:spPr>
              <a:solidFill>
                <a:srgbClr val="1C7293"/>
              </a:solidFill>
              <a:effectLst/>
            </c:spPr>
          </c:dPt>
          <c:dPt>
            <c:idx val="3"/>
            <c:bubble3D val="0"/>
            <c:spPr>
              <a:solidFill>
                <a:srgbClr val="B7CADB"/>
              </a:solidFill>
              <a:effectLst/>
            </c:spPr>
          </c:dPt>
          <c:dLbls>
            <c:dLbl>
              <c:idx val="0"/>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Less than 1 hour</c:v>
                </c:pt>
                <c:pt idx="1">
                  <c:v>1-2 hours</c:v>
                </c:pt>
                <c:pt idx="2">
                  <c:v>2-4 hours</c:v>
                </c:pt>
                <c:pt idx="3">
                  <c:v>More than 4 hours</c:v>
                </c:pt>
              </c:strCache>
            </c:strRef>
          </c:cat>
          <c:val>
            <c:numRef>
              <c:f>Sheet1!$B$2:$B$5</c:f>
              <c:numCache>
                <c:ptCount val="4"/>
                <c:pt idx="0">
                  <c:v>40</c:v>
                </c:pt>
                <c:pt idx="1">
                  <c:v>50</c:v>
                </c:pt>
                <c:pt idx="2">
                  <c:v>7</c:v>
                </c:pt>
                <c:pt idx="3">
                  <c:v>3</c:v>
                </c:pt>
              </c:numCache>
            </c:numRef>
          </c:val>
        </c:ser>
        <c:firstSliceAng val="0"/>
      </c:pieChart>
      <c:spPr>
        <a:noFill/>
        <a:ln>
          <a:noFill/>
        </a:ln>
        <a:effectLst/>
      </c:spPr>
    </c:plotArea>
    <c:legend>
      <c:legendPos val="b"/>
      <c:overlay val="0"/>
      <c:txPr>
        <a:bodyPr/>
        <a:lstStyle/>
        <a:p>
          <a:pPr>
            <a:defRPr sz="1100">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Number of Students</c:v>
                </c:pt>
              </c:strCache>
            </c:strRef>
          </c:tx>
          <c:spPr>
            <a:solidFill>
              <a:srgbClr val="065A82"/>
            </a:solidFill>
            <a:effectLst/>
          </c:spPr>
          <c:invertIfNegative val="0"/>
          <c:dLbls>
            <c:numFmt formatCode="#,##0" sourceLinked="0"/>
            <c:txPr>
              <a:bodyPr/>
              <a:lstStyle/>
              <a:p>
                <a:pPr>
                  <a:defRPr b="0" i="0" strike="noStrike" sz="1000" u="none">
                    <a:solidFill>
                      <a:srgbClr val="44546A"/>
                    </a:solidFill>
                    <a:latin typeface="Arial"/>
                  </a:defRPr>
                </a:pPr>
              </a:p>
            </c:txPr>
            <c:showLegendKey val="0"/>
            <c:showVal val="1"/>
            <c:showCatName val="0"/>
            <c:showSerName val="0"/>
            <c:showPercent val="0"/>
            <c:showBubbleSize val="0"/>
            <c:showLeaderLines val="0"/>
          </c:dLbls>
          <c:cat>
            <c:multiLvlStrRef>
              <c:f>Sheet1!$A$2:$A$13</c:f>
              <c:multiLvlStrCache>
                <c:ptCount val="12"/>
                <c:lvl>
                  <c:pt idx="0">
                    <c:v>6</c:v>
                  </c:pt>
                  <c:pt idx="1">
                    <c:v>7</c:v>
                  </c:pt>
                  <c:pt idx="2">
                    <c:v>7.6</c:v>
                  </c:pt>
                  <c:pt idx="3">
                    <c:v>8</c:v>
                  </c:pt>
                  <c:pt idx="4">
                    <c:v>8.2</c:v>
                  </c:pt>
                  <c:pt idx="5">
                    <c:v>8.7</c:v>
                  </c:pt>
                  <c:pt idx="6">
                    <c:v>9.0</c:v>
                  </c:pt>
                  <c:pt idx="7">
                    <c:v>9.24</c:v>
                  </c:pt>
                  <c:pt idx="8">
                    <c:v>9.3</c:v>
                  </c:pt>
                  <c:pt idx="9">
                    <c:v>9.384</c:v>
                  </c:pt>
                  <c:pt idx="10">
                    <c:v>9.5</c:v>
                  </c:pt>
                  <c:pt idx="11">
                    <c:v>9.55</c:v>
                  </c:pt>
                </c:lvl>
              </c:multiLvlStrCache>
            </c:multiLvlStrRef>
          </c:cat>
          <c:val>
            <c:numRef>
              <c:f>Sheet1!$B$2:$B$13</c:f>
              <c:numCache>
                <c:formatCode>General</c:formatCode>
                <c:ptCount val="12"/>
                <c:pt idx="0">
                  <c:v>1</c:v>
                </c:pt>
                <c:pt idx="1">
                  <c:v>3</c:v>
                </c:pt>
                <c:pt idx="2">
                  <c:v>1</c:v>
                </c:pt>
                <c:pt idx="3">
                  <c:v>1</c:v>
                </c:pt>
                <c:pt idx="4">
                  <c:v>2</c:v>
                </c:pt>
                <c:pt idx="5">
                  <c:v>1</c:v>
                </c:pt>
                <c:pt idx="6">
                  <c:v>1</c:v>
                </c:pt>
                <c:pt idx="7">
                  <c:v>1</c:v>
                </c:pt>
                <c:pt idx="8">
                  <c:v>1</c:v>
                </c:pt>
                <c:pt idx="9">
                  <c:v>1</c:v>
                </c:pt>
                <c:pt idx="10">
                  <c:v>1</c:v>
                </c:pt>
                <c:pt idx="11">
                  <c:v>1</c:v>
                </c:pt>
              </c:numCache>
            </c:numRef>
          </c:val>
        </c:ser>
        <c:dLbls>
          <c:numFmt formatCode="#,##0" sourceLinked="0"/>
          <c:txPr>
            <a:bodyPr/>
            <a:lstStyle/>
            <a:p>
              <a:pPr>
                <a:defRPr b="0" i="0" strike="noStrike" sz="1000" u="none">
                  <a:solidFill>
                    <a:srgbClr val="44546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C8AA5"/>
                </a:solidFill>
                <a:latin typeface="Arial"/>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C8AA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Holiday Impact</c:v>
                </c:pt>
              </c:strCache>
            </c:strRef>
          </c:tx>
          <c:spPr>
            <a:solidFill>
              <a:schemeClr val="accent1"/>
            </a:solidFill>
            <a:ln w="9525" cap="flat">
              <a:solidFill>
                <a:srgbClr val="F9F9F9"/>
              </a:solidFill>
              <a:prstDash val="solid"/>
              <a:round/>
            </a:ln>
            <a:effectLst/>
          </c:spPr>
          <c:dPt>
            <c:idx val="0"/>
            <c:bubble3D val="0"/>
            <c:spPr>
              <a:solidFill>
                <a:srgbClr val="065A82"/>
              </a:solidFill>
              <a:effectLst/>
            </c:spPr>
          </c:dPt>
          <c:dPt>
            <c:idx val="1"/>
            <c:bubble3D val="0"/>
            <c:spPr>
              <a:solidFill>
                <a:srgbClr val="F2A359"/>
              </a:solidFill>
              <a:effectLst/>
            </c:spPr>
          </c:dPt>
          <c:dPt>
            <c:idx val="2"/>
            <c:bubble3D val="0"/>
            <c:spPr>
              <a:solidFill>
                <a:srgbClr val="1C7293"/>
              </a:solidFill>
              <a:effectLst/>
            </c:spPr>
          </c:dPt>
          <c:dLbls>
            <c:dLbl>
              <c:idx val="0"/>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Yes</c:v>
                </c:pt>
                <c:pt idx="1">
                  <c:v>No</c:v>
                </c:pt>
                <c:pt idx="2">
                  <c:v>Sometimes</c:v>
                </c:pt>
              </c:strCache>
            </c:strRef>
          </c:cat>
          <c:val>
            <c:numRef>
              <c:f>Sheet1!$B$2:$B$4</c:f>
              <c:numCache>
                <c:ptCount val="3"/>
                <c:pt idx="0">
                  <c:v>25</c:v>
                </c:pt>
                <c:pt idx="1">
                  <c:v>20</c:v>
                </c:pt>
                <c:pt idx="2">
                  <c:v>55</c:v>
                </c:pt>
              </c:numCache>
            </c:numRef>
          </c:val>
        </c:ser>
        <c:firstSliceAng val="0"/>
      </c:pieChart>
      <c:spPr>
        <a:noFill/>
        <a:ln>
          <a:noFill/>
        </a:ln>
        <a:effectLst/>
      </c:spPr>
    </c:plotArea>
    <c:legend>
      <c:legendPos val="b"/>
      <c:overlay val="0"/>
      <c:txPr>
        <a:bodyPr/>
        <a:lstStyle/>
        <a:p>
          <a:pPr>
            <a:defRPr sz="1100">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Attendance Impact</c:v>
                </c:pt>
              </c:strCache>
            </c:strRef>
          </c:tx>
          <c:spPr>
            <a:solidFill>
              <a:schemeClr val="accent1"/>
            </a:solidFill>
            <a:ln w="9525" cap="flat">
              <a:solidFill>
                <a:srgbClr val="F9F9F9"/>
              </a:solidFill>
              <a:prstDash val="solid"/>
              <a:round/>
            </a:ln>
            <a:effectLst/>
          </c:spPr>
          <c:dPt>
            <c:idx val="0"/>
            <c:bubble3D val="0"/>
            <c:spPr>
              <a:solidFill>
                <a:srgbClr val="065A82"/>
              </a:solidFill>
              <a:effectLst/>
            </c:spPr>
          </c:dPt>
          <c:dPt>
            <c:idx val="1"/>
            <c:bubble3D val="0"/>
            <c:spPr>
              <a:solidFill>
                <a:srgbClr val="1C7293"/>
              </a:solidFill>
              <a:effectLst/>
            </c:spPr>
          </c:dPt>
          <c:dPt>
            <c:idx val="2"/>
            <c:bubble3D val="0"/>
            <c:spPr>
              <a:solidFill>
                <a:srgbClr val="F2A359"/>
              </a:solidFill>
              <a:effectLst/>
            </c:spPr>
          </c:dPt>
          <c:dPt>
            <c:idx val="3"/>
            <c:bubble3D val="0"/>
            <c:spPr>
              <a:solidFill>
                <a:srgbClr val="B7CADB"/>
              </a:solidFill>
              <a:effectLst/>
            </c:spPr>
          </c:dPt>
          <c:dPt>
            <c:idx val="4"/>
            <c:bubble3D val="0"/>
            <c:spPr>
              <a:solidFill>
                <a:srgbClr val="9AA8C2"/>
              </a:solidFill>
              <a:effectLst/>
            </c:spPr>
          </c:dPt>
          <c:dLbls>
            <c:dLbl>
              <c:idx val="0"/>
              <c:numFmt formatCode="0%" sourceLinked="0"/>
              <c:spPr/>
              <c:txPr>
                <a:bodyPr/>
                <a:lstStyle/>
                <a:p>
                  <a:pPr>
                    <a:defRPr sz="1100" b="0" i="0" u="none" strike="noStrike">
                      <a:solidFill>
                        <a:srgbClr val="FFFFFF"/>
                      </a:solidFill>
                      <a:latin typeface="Arial"/>
                    </a:defRPr>
                  </a:pPr>
                </a:p>
              </c:txPr>
              <c:dLblPos val="bestFit"/>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dLblPos val="bestFit"/>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dLblPos val="bestFit"/>
              <c:showLegendKey val="0"/>
              <c:showVal val="0"/>
              <c:showCatName val="0"/>
              <c:showSerName val="0"/>
              <c:showPercent val="1"/>
              <c:showBubbleSize val="0"/>
            </c:dLbl>
            <c:dLbl>
              <c:idx val="3"/>
              <c:numFmt formatCode="0%" sourceLinked="0"/>
              <c:spPr/>
              <c:txPr>
                <a:bodyPr/>
                <a:lstStyle/>
                <a:p>
                  <a:pPr>
                    <a:defRPr sz="1100" b="0" i="0" u="none" strike="noStrike">
                      <a:solidFill>
                        <a:srgbClr val="FFFFFF"/>
                      </a:solidFill>
                      <a:latin typeface="Arial"/>
                    </a:defRPr>
                  </a:pPr>
                </a:p>
              </c:txPr>
              <c:dLblPos val="bestFit"/>
              <c:showLegendKey val="0"/>
              <c:showVal val="0"/>
              <c:showCatName val="0"/>
              <c:showSerName val="0"/>
              <c:showPercent val="1"/>
              <c:showBubbleSize val="0"/>
            </c:dLbl>
            <c:dLbl>
              <c:idx val="4"/>
              <c:numFmt formatCode="0%" sourceLinked="0"/>
              <c:spPr/>
              <c:txPr>
                <a:bodyPr/>
                <a:lstStyle/>
                <a:p>
                  <a:pPr>
                    <a:defRPr sz="1100" b="0" i="0" u="none" strike="noStrike">
                      <a:solidFill>
                        <a:srgbClr val="FFFFFF"/>
                      </a:solidFill>
                      <a:latin typeface="Arial"/>
                    </a:defRPr>
                  </a:pPr>
                </a:p>
              </c:txPr>
              <c:dLblPos val="bestFit"/>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Strongly Agree</c:v>
                </c:pt>
                <c:pt idx="1">
                  <c:v>Agree</c:v>
                </c:pt>
                <c:pt idx="2">
                  <c:v>Neutral</c:v>
                </c:pt>
                <c:pt idx="3">
                  <c:v>Disagree</c:v>
                </c:pt>
                <c:pt idx="4">
                  <c:v>Strongly Disagree</c:v>
                </c:pt>
              </c:strCache>
            </c:strRef>
          </c:cat>
          <c:val>
            <c:numRef>
              <c:f>Sheet1!$B$2:$B$6</c:f>
              <c:numCache>
                <c:ptCount val="5"/>
                <c:pt idx="0">
                  <c:v>30</c:v>
                </c:pt>
                <c:pt idx="1">
                  <c:v>10</c:v>
                </c:pt>
                <c:pt idx="2">
                  <c:v>50</c:v>
                </c:pt>
                <c:pt idx="3">
                  <c:v>5</c:v>
                </c:pt>
                <c:pt idx="4">
                  <c:v>5</c:v>
                </c:pt>
              </c:numCache>
            </c:numRef>
          </c:val>
        </c:ser>
        <c:firstSliceAng val="0"/>
      </c:pieChart>
      <c:spPr>
        <a:no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Holiday Activities</c:v>
                </c:pt>
              </c:strCache>
            </c:strRef>
          </c:tx>
          <c:spPr>
            <a:solidFill>
              <a:schemeClr val="accent1"/>
            </a:solidFill>
            <a:ln w="9525" cap="flat">
              <a:solidFill>
                <a:srgbClr val="F9F9F9"/>
              </a:solidFill>
              <a:prstDash val="solid"/>
              <a:round/>
            </a:ln>
            <a:effectLst/>
          </c:spPr>
          <c:dPt>
            <c:idx val="0"/>
            <c:bubble3D val="0"/>
            <c:spPr>
              <a:solidFill>
                <a:srgbClr val="F2A359"/>
              </a:solidFill>
              <a:effectLst/>
            </c:spPr>
          </c:dPt>
          <c:dPt>
            <c:idx val="1"/>
            <c:bubble3D val="0"/>
            <c:spPr>
              <a:solidFill>
                <a:srgbClr val="9AA8C2"/>
              </a:solidFill>
              <a:effectLst/>
            </c:spPr>
          </c:dPt>
          <c:dPt>
            <c:idx val="2"/>
            <c:bubble3D val="0"/>
            <c:spPr>
              <a:solidFill>
                <a:srgbClr val="065A82"/>
              </a:solidFill>
              <a:effectLst/>
            </c:spPr>
          </c:dPt>
          <c:dPt>
            <c:idx val="3"/>
            <c:bubble3D val="0"/>
            <c:spPr>
              <a:solidFill>
                <a:srgbClr val="21295C"/>
              </a:solidFill>
              <a:effectLst/>
            </c:spPr>
          </c:dPt>
          <c:dPt>
            <c:idx val="4"/>
            <c:bubble3D val="0"/>
            <c:spPr>
              <a:solidFill>
                <a:srgbClr val="1C7293"/>
              </a:solidFill>
              <a:effectLst/>
            </c:spPr>
          </c:dPt>
          <c:dLbls>
            <c:dLbl>
              <c:idx val="0"/>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4"/>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Learning new skills</c:v>
                </c:pt>
                <c:pt idx="1">
                  <c:v>Watching movies/series</c:v>
                </c:pt>
                <c:pt idx="2">
                  <c:v>Spending time with family</c:v>
                </c:pt>
                <c:pt idx="3">
                  <c:v>Travelling</c:v>
                </c:pt>
                <c:pt idx="4">
                  <c:v>Other</c:v>
                </c:pt>
              </c:strCache>
            </c:strRef>
          </c:cat>
          <c:val>
            <c:numRef>
              <c:f>Sheet1!$B$2:$B$6</c:f>
              <c:numCache>
                <c:ptCount val="5"/>
                <c:pt idx="0">
                  <c:v>5</c:v>
                </c:pt>
                <c:pt idx="1">
                  <c:v>15</c:v>
                </c:pt>
                <c:pt idx="2">
                  <c:v>40</c:v>
                </c:pt>
                <c:pt idx="3">
                  <c:v>20</c:v>
                </c:pt>
                <c:pt idx="4">
                  <c:v>20</c:v>
                </c:pt>
              </c:numCache>
            </c:numRef>
          </c:val>
        </c:ser>
        <c:firstSliceAng val="0"/>
      </c:pieChart>
      <c:spPr>
        <a:noFill/>
        <a:ln>
          <a:noFill/>
        </a:ln>
        <a:effectLst/>
      </c:spPr>
    </c:plotArea>
    <c:legend>
      <c:legendPos val="b"/>
      <c:overlay val="0"/>
      <c:txPr>
        <a:bodyPr/>
        <a:lstStyle/>
        <a:p>
          <a:pPr>
            <a:defRPr sz="1100">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Time Table</c:v>
                </c:pt>
              </c:strCache>
            </c:strRef>
          </c:tx>
          <c:spPr>
            <a:solidFill>
              <a:schemeClr val="accent1"/>
            </a:solidFill>
            <a:ln w="9525" cap="flat">
              <a:solidFill>
                <a:srgbClr val="F9F9F9"/>
              </a:solidFill>
              <a:prstDash val="solid"/>
              <a:round/>
            </a:ln>
            <a:effectLst/>
          </c:spPr>
          <c:dPt>
            <c:idx val="0"/>
            <c:bubble3D val="0"/>
            <c:spPr>
              <a:solidFill>
                <a:srgbClr val="065A82"/>
              </a:solidFill>
              <a:effectLst/>
            </c:spPr>
          </c:dPt>
          <c:dPt>
            <c:idx val="1"/>
            <c:bubble3D val="0"/>
            <c:spPr>
              <a:solidFill>
                <a:srgbClr val="F2A359"/>
              </a:solidFill>
              <a:effectLst/>
            </c:spPr>
          </c:dPt>
          <c:dPt>
            <c:idx val="2"/>
            <c:bubble3D val="0"/>
            <c:spPr>
              <a:solidFill>
                <a:srgbClr val="1C7293"/>
              </a:solidFill>
              <a:effectLst/>
            </c:spPr>
          </c:dPt>
          <c:dLbls>
            <c:dLbl>
              <c:idx val="0"/>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Always</c:v>
                </c:pt>
                <c:pt idx="1">
                  <c:v>Sometimes</c:v>
                </c:pt>
                <c:pt idx="2">
                  <c:v>Never</c:v>
                </c:pt>
              </c:strCache>
            </c:strRef>
          </c:cat>
          <c:val>
            <c:numRef>
              <c:f>Sheet1!$B$2:$B$4</c:f>
              <c:numCache>
                <c:ptCount val="3"/>
                <c:pt idx="0">
                  <c:v>5</c:v>
                </c:pt>
                <c:pt idx="1">
                  <c:v>70</c:v>
                </c:pt>
                <c:pt idx="2">
                  <c:v>25</c:v>
                </c:pt>
              </c:numCache>
            </c:numRef>
          </c:val>
        </c:ser>
        <c:firstSliceAng val="0"/>
      </c:pieChart>
      <c:spPr>
        <a:noFill/>
        <a:ln>
          <a:noFill/>
        </a:ln>
        <a:effectLst/>
      </c:spPr>
    </c:plotArea>
    <c:legend>
      <c:legendPos val="b"/>
      <c:overlay val="0"/>
      <c:txPr>
        <a:bodyPr/>
        <a:lstStyle/>
        <a:p>
          <a:pPr>
            <a:defRPr sz="1100">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Previous %</c:v>
                </c:pt>
              </c:strCache>
            </c:strRef>
          </c:tx>
          <c:spPr>
            <a:solidFill>
              <a:schemeClr val="accent1"/>
            </a:solidFill>
            <a:ln w="9525" cap="flat">
              <a:solidFill>
                <a:srgbClr val="F9F9F9"/>
              </a:solidFill>
              <a:prstDash val="solid"/>
              <a:round/>
            </a:ln>
            <a:effectLst/>
          </c:spPr>
          <c:dPt>
            <c:idx val="0"/>
            <c:bubble3D val="0"/>
            <c:spPr>
              <a:solidFill>
                <a:srgbClr val="065A82"/>
              </a:solidFill>
              <a:effectLst/>
            </c:spPr>
          </c:dPt>
          <c:dPt>
            <c:idx val="1"/>
            <c:bubble3D val="0"/>
            <c:spPr>
              <a:solidFill>
                <a:srgbClr val="F2A359"/>
              </a:solidFill>
              <a:effectLst/>
            </c:spPr>
          </c:dPt>
          <c:dPt>
            <c:idx val="2"/>
            <c:bubble3D val="0"/>
            <c:spPr>
              <a:solidFill>
                <a:srgbClr val="1C7293"/>
              </a:solidFill>
              <a:effectLst/>
            </c:spPr>
          </c:dPt>
          <c:dPt>
            <c:idx val="3"/>
            <c:bubble3D val="0"/>
            <c:spPr>
              <a:solidFill>
                <a:srgbClr val="9AA8C2"/>
              </a:solidFill>
              <a:effectLst/>
            </c:spPr>
          </c:dPt>
          <c:dLbls>
            <c:dLbl>
              <c:idx val="0"/>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Below 75%</c:v>
                </c:pt>
                <c:pt idx="1">
                  <c:v>75% - 85%</c:v>
                </c:pt>
                <c:pt idx="2">
                  <c:v>85% - 95%</c:v>
                </c:pt>
                <c:pt idx="3">
                  <c:v>Above 95%</c:v>
                </c:pt>
              </c:strCache>
            </c:strRef>
          </c:cat>
          <c:val>
            <c:numRef>
              <c:f>Sheet1!$B$2:$B$5</c:f>
              <c:numCache>
                <c:ptCount val="4"/>
                <c:pt idx="0">
                  <c:v>5</c:v>
                </c:pt>
                <c:pt idx="1">
                  <c:v>35</c:v>
                </c:pt>
                <c:pt idx="2">
                  <c:v>40</c:v>
                </c:pt>
                <c:pt idx="3">
                  <c:v>20</c:v>
                </c:pt>
              </c:numCache>
            </c:numRef>
          </c:val>
        </c:ser>
        <c:firstSliceAng val="0"/>
      </c:pieChart>
      <c:spPr>
        <a:noFill/>
        <a:ln>
          <a:noFill/>
        </a:ln>
        <a:effectLst/>
      </c:spPr>
    </c:plotArea>
    <c:legend>
      <c:legendPos val="b"/>
      <c:overlay val="0"/>
      <c:txPr>
        <a:bodyPr/>
        <a:lstStyle/>
        <a:p>
          <a:pPr>
            <a:defRPr sz="1100">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AI Usage</c:v>
                </c:pt>
              </c:strCache>
            </c:strRef>
          </c:tx>
          <c:spPr>
            <a:solidFill>
              <a:schemeClr val="accent1"/>
            </a:solidFill>
            <a:ln w="9525" cap="flat">
              <a:solidFill>
                <a:srgbClr val="F9F9F9"/>
              </a:solidFill>
              <a:prstDash val="solid"/>
              <a:round/>
            </a:ln>
            <a:effectLst/>
          </c:spPr>
          <c:dPt>
            <c:idx val="0"/>
            <c:bubble3D val="0"/>
            <c:spPr>
              <a:solidFill>
                <a:srgbClr val="065A82"/>
              </a:solidFill>
              <a:effectLst/>
            </c:spPr>
          </c:dPt>
          <c:dPt>
            <c:idx val="1"/>
            <c:bubble3D val="0"/>
            <c:spPr>
              <a:solidFill>
                <a:srgbClr val="F2A359"/>
              </a:solidFill>
              <a:effectLst/>
            </c:spPr>
          </c:dPt>
          <c:dPt>
            <c:idx val="2"/>
            <c:bubble3D val="0"/>
            <c:spPr>
              <a:solidFill>
                <a:srgbClr val="1C7293"/>
              </a:solidFill>
              <a:effectLst/>
            </c:spPr>
          </c:dPt>
          <c:dLbls>
            <c:dLbl>
              <c:idx val="0"/>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dLblPos val="bestFit"/>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Daily</c:v>
                </c:pt>
                <c:pt idx="1">
                  <c:v>Weekly</c:v>
                </c:pt>
                <c:pt idx="2">
                  <c:v>Occasionally</c:v>
                </c:pt>
              </c:strCache>
            </c:strRef>
          </c:cat>
          <c:val>
            <c:numRef>
              <c:f>Sheet1!$B$2:$B$4</c:f>
              <c:numCache>
                <c:ptCount val="3"/>
                <c:pt idx="0">
                  <c:v>50</c:v>
                </c:pt>
                <c:pt idx="1">
                  <c:v>25</c:v>
                </c:pt>
                <c:pt idx="2">
                  <c:v>25</c:v>
                </c:pt>
              </c:numCache>
            </c:numRef>
          </c:val>
        </c:ser>
        <c:firstSliceAng val="0"/>
      </c:pieChart>
      <c:spPr>
        <a:noFill/>
        <a:ln>
          <a:noFill/>
        </a:ln>
        <a:effectLst/>
      </c:spPr>
    </c:plotArea>
    <c:legend>
      <c:legendPos val="b"/>
      <c:overlay val="0"/>
      <c:txPr>
        <a:bodyPr/>
        <a:lstStyle/>
        <a:p>
          <a:pPr>
            <a:defRPr sz="1100">      </a:defRPr>
          </a:pPr>
          <a:endParaRPr lang="en-US"/>
        </a:p>
      </c:txPr>
    </c:legend>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Challenges</c:v>
                </c:pt>
              </c:strCache>
            </c:strRef>
          </c:tx>
          <c:spPr>
            <a:solidFill>
              <a:schemeClr val="accent1"/>
            </a:solidFill>
            <a:ln w="9525" cap="flat">
              <a:solidFill>
                <a:srgbClr val="F9F9F9"/>
              </a:solidFill>
              <a:prstDash val="solid"/>
              <a:round/>
            </a:ln>
            <a:effectLst/>
          </c:spPr>
          <c:dPt>
            <c:idx val="0"/>
            <c:bubble3D val="0"/>
            <c:spPr>
              <a:solidFill>
                <a:srgbClr val="065A82"/>
              </a:solidFill>
              <a:effectLst/>
            </c:spPr>
          </c:dPt>
          <c:dPt>
            <c:idx val="1"/>
            <c:bubble3D val="0"/>
            <c:spPr>
              <a:solidFill>
                <a:srgbClr val="9AA8C2"/>
              </a:solidFill>
              <a:effectLst/>
            </c:spPr>
          </c:dPt>
          <c:dPt>
            <c:idx val="2"/>
            <c:bubble3D val="0"/>
            <c:spPr>
              <a:solidFill>
                <a:srgbClr val="F2A359"/>
              </a:solidFill>
              <a:effectLst/>
            </c:spPr>
          </c:dPt>
          <c:dPt>
            <c:idx val="3"/>
            <c:bubble3D val="0"/>
            <c:spPr>
              <a:solidFill>
                <a:srgbClr val="1C7293"/>
              </a:solidFill>
              <a:effectLst/>
            </c:spPr>
          </c:dPt>
          <c:dPt>
            <c:idx val="4"/>
            <c:bubble3D val="0"/>
            <c:spPr>
              <a:solidFill>
                <a:srgbClr val="21295C"/>
              </a:solidFill>
              <a:effectLst/>
            </c:spPr>
          </c:dPt>
          <c:dPt>
            <c:idx val="5"/>
            <c:bubble3D val="0"/>
            <c:spPr>
              <a:solidFill>
                <a:srgbClr val="C9D8E8"/>
              </a:solidFill>
              <a:effectLst/>
            </c:spPr>
          </c:dPt>
          <c:dLbls>
            <c:dLbl>
              <c:idx val="0"/>
              <c:numFmt formatCode="0%" sourceLinked="0"/>
              <c:spPr/>
              <c:txPr>
                <a:bodyPr/>
                <a:lstStyle/>
                <a:p>
                  <a:pPr>
                    <a:defRPr sz="1000" b="0" i="0" u="none" strike="noStrike">
                      <a:solidFill>
                        <a:srgbClr val="FFFFFF"/>
                      </a:solidFill>
                      <a:latin typeface="Arial"/>
                    </a:defRPr>
                  </a:pPr>
                </a:p>
              </c:txPr>
              <c:dLblPos val="bestFit"/>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dLblPos val="bestFit"/>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dLblPos val="bestFit"/>
              <c:showLegendKey val="0"/>
              <c:showVal val="0"/>
              <c:showCatName val="0"/>
              <c:showSerName val="0"/>
              <c:showPercent val="1"/>
              <c:showBubbleSize val="0"/>
            </c:dLbl>
            <c:dLbl>
              <c:idx val="3"/>
              <c:numFmt formatCode="0%" sourceLinked="0"/>
              <c:spPr/>
              <c:txPr>
                <a:bodyPr/>
                <a:lstStyle/>
                <a:p>
                  <a:pPr>
                    <a:defRPr sz="1000" b="0" i="0" u="none" strike="noStrike">
                      <a:solidFill>
                        <a:srgbClr val="FFFFFF"/>
                      </a:solidFill>
                      <a:latin typeface="Arial"/>
                    </a:defRPr>
                  </a:pPr>
                </a:p>
              </c:txPr>
              <c:dLblPos val="bestFit"/>
              <c:showLegendKey val="0"/>
              <c:showVal val="0"/>
              <c:showCatName val="0"/>
              <c:showSerName val="0"/>
              <c:showPercent val="1"/>
              <c:showBubbleSize val="0"/>
            </c:dLbl>
            <c:dLbl>
              <c:idx val="4"/>
              <c:numFmt formatCode="0%" sourceLinked="0"/>
              <c:spPr/>
              <c:txPr>
                <a:bodyPr/>
                <a:lstStyle/>
                <a:p>
                  <a:pPr>
                    <a:defRPr sz="1000" b="0" i="0" u="none" strike="noStrike">
                      <a:solidFill>
                        <a:srgbClr val="FFFFFF"/>
                      </a:solidFill>
                      <a:latin typeface="Arial"/>
                    </a:defRPr>
                  </a:pPr>
                </a:p>
              </c:txPr>
              <c:dLblPos val="bestFit"/>
              <c:showLegendKey val="0"/>
              <c:showVal val="0"/>
              <c:showCatName val="0"/>
              <c:showSerName val="0"/>
              <c:showPercent val="1"/>
              <c:showBubbleSize val="0"/>
            </c:dLbl>
            <c:dLbl>
              <c:idx val="5"/>
              <c:numFmt formatCode="0%" sourceLinked="0"/>
              <c:spPr/>
              <c:txPr>
                <a:bodyPr/>
                <a:lstStyle/>
                <a:p>
                  <a:pPr>
                    <a:defRPr sz="1000" b="0" i="0" u="none" strike="noStrike">
                      <a:solidFill>
                        <a:srgbClr val="FFFFFF"/>
                      </a:solidFill>
                      <a:latin typeface="Arial"/>
                    </a:defRPr>
                  </a:pPr>
                </a:p>
              </c:txPr>
              <c:dLblPos val="bestFit"/>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Time Management</c:v>
                </c:pt>
                <c:pt idx="1">
                  <c:v>Lack of Motivation</c:v>
                </c:pt>
                <c:pt idx="2">
                  <c:v>Difficulty Understanding Subjects</c:v>
                </c:pt>
                <c:pt idx="3">
                  <c:v>Excessive Phone/Social Media</c:v>
                </c:pt>
                <c:pt idx="4">
                  <c:v>Family Responsibilities</c:v>
                </c:pt>
                <c:pt idx="5">
                  <c:v>Other</c:v>
                </c:pt>
              </c:strCache>
            </c:strRef>
          </c:cat>
          <c:val>
            <c:numRef>
              <c:f>Sheet1!$B$2:$B$7</c:f>
              <c:numCache>
                <c:ptCount val="6"/>
                <c:pt idx="0">
                  <c:v>30</c:v>
                </c:pt>
                <c:pt idx="1">
                  <c:v>5</c:v>
                </c:pt>
                <c:pt idx="2">
                  <c:v>15</c:v>
                </c:pt>
                <c:pt idx="3">
                  <c:v>35</c:v>
                </c:pt>
                <c:pt idx="4">
                  <c:v>5</c:v>
                </c:pt>
                <c:pt idx="5">
                  <c:v>10</c:v>
                </c:pt>
              </c:numCache>
            </c:numRef>
          </c:val>
        </c:ser>
        <c:firstSliceAng val="0"/>
      </c:pieChart>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project title. Mention that this mini project analyses a 20-response survey of engineering students focused on how they spend their holidays and how that relates to their academic performance, attendance attitudes, and study habits. Set the expectation that the next slides walk through the objectives, methodology, key findings from each survey question, and conclude with actionable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motivation for the project: holidays are a large unstructured block of time and how students use it could affect their academic outcomes. Walk through the four objectives - studying holiday study patterns, correlating habits with CGPA, assessing AI tool adoption, and identifying key challenges. Briefly explain the survey methodology - a 20-response anonymous Google Form covering demographics, study habits, attendance attitudes, and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who took the survey: 20 engineering students, of which 85 percent identified as CSE Specialisation. Note the limitation upfront - because the sample skews heavily towards CSE specialisation students, the findings should be read as most representative of that group, and broader generalisation to all engineering branches should be made cautiously.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pie chart: 40 percent of students study less than 1 hour per day during holidays, and 50 percent study 1 to 2 hours, meaning 90 percent of the cohort stays in a light-study zone. Only a small fraction studies more than 2 hours daily. Discuss the implication that holidays are largely treated as downtime rather than intensive study periods, and that small increases in daily study time could meaningfully shift the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CGPA distribution from 19 responses. CGPA values span a wide range, from 6.0 up to 9.55, showing that the cohort has a mix of academic performers despite the shared branch background. The most common CGPA reported is 7.0, held by about 16 percent of students, followed by 8.2 at about 10 percent, with most other values reported by only one student each. This sets up the next slides which examine what habits might relate to this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examines two perception-based questions. On holidays helping academic performance, only 25 percent say a clear yes, while 55 percent say 'sometimes' and 20 percent say no - suggesting holidays' value depends heavily on how they're used, echoing the light-touch study pattern seen earlier. On attendance, half the respondents are neutral, 30 percent strongly agree it affects performance, and only 10 percent disagree or strongly disagree combined - so most students at least lean toward attendance mattering, even if many are undecided.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how students primarily spend their holidays. Family time is the dominant activity at 40 percent, while travel and other miscellaneous activities make up another 40 percent combined, and movies/series and learning new skills make up the remainder. Notably, no respondents selected dedicated studying as their primary holiday activity, which aligns with the earlier finding that holiday study hours are generally low - studying tends to be a secondary activity squeezed in alongside rest and family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study discipline indicators. Only 5 percent of students always follow a time table, while 70 percent do so only sometimes and 25 percent never do - reinforcing the earlier finding that study routines are loosely structured. On past academic performance, 75 percent of students previously maintained above 85 percent (40 percent in the 85-95 range and 20 percent above 95), while 35 percent were in the 75-85 percent band and only 5 percent were below 75 percent - this is a generally high-performing cohort historically, despite the loose routines and modest holiday study hours seen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AI adoption: 50 percent use AI tools like ChatGPT or Gemini daily for learning, and the remaining 50 percent use them at least weekly or occasionally, with nobody reporting 'never' - showing AI tools have become a near-universal part of this cohort's study routine. On the biggest challenges, excessive phone and social media usage is the top issue at 35 percent, closely followed by time management at 30 percent, together accounting for 65 percent of responses. Difficulty understanding subjects (15 percent), other (10 percent), and lack of motivation and family responsibilities (5 percent each) round out the picture. The dominance of phone/social media and time management as challenges directly connects to the low holiday study hours seen earlier - digital distraction appears to be a central barrier.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six key takeaways. First, holiday study time is generally low (90 percent study 2 hours or less daily) but small increases could benefit most students. Second, digital distraction - phone and social media usage - is the leading challenge alongside time management, together over 65 percent of responses, making this the highest-leverage area for intervention. Third, routine discipline is weak, with only 5 percent always following a time table, suggesting structured planning tools could help. Fourth, AI tool adoption is universal, offering an opportunity to design AI-assisted self-study resources for holidays. Fifth, the cohort has a strong academic base historically but a wide current CGPA spread, suggesting habits rather than ability explain much of the variation. Finally, attitudes toward attendance are mixed, with half the cohort neutral, indicating a need for clearer messaging about its importance. End by inviting questions 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065A82">
              <a:alpha val="45000"/>
            </a:srgbClr>
          </a:solidFill>
          <a:ln/>
        </p:spPr>
      </p:sp>
      <p:sp>
        <p:nvSpPr>
          <p:cNvPr id="3" name="Shape 1"/>
          <p:cNvSpPr/>
          <p:nvPr/>
        </p:nvSpPr>
        <p:spPr>
          <a:xfrm>
            <a:off x="10424160" y="3840480"/>
            <a:ext cx="3291840" cy="3291840"/>
          </a:xfrm>
          <a:prstGeom prst="ellipse">
            <a:avLst/>
          </a:prstGeom>
          <a:solidFill>
            <a:srgbClr val="1C7293">
              <a:alpha val="45000"/>
            </a:srgbClr>
          </a:solidFill>
          <a:ln/>
        </p:spPr>
      </p:sp>
      <p:sp>
        <p:nvSpPr>
          <p:cNvPr id="4" name="Shape 2"/>
          <p:cNvSpPr/>
          <p:nvPr/>
        </p:nvSpPr>
        <p:spPr>
          <a:xfrm>
            <a:off x="-1097280" y="4572000"/>
            <a:ext cx="2926080" cy="2926080"/>
          </a:xfrm>
          <a:prstGeom prst="ellipse">
            <a:avLst/>
          </a:prstGeom>
          <a:solidFill>
            <a:srgbClr val="1C7293">
              <a:alpha val="35000"/>
            </a:srgbClr>
          </a:solidFill>
          <a:ln/>
        </p:spPr>
      </p:sp>
      <p:pic>
        <p:nvPicPr>
          <p:cNvPr id="5" name="Image 0" descr="/home/claude/icons/graduation_white.png">    </p:cNvPr>
          <p:cNvPicPr>
            <a:picLocks noChangeAspect="1"/>
          </p:cNvPicPr>
          <p:nvPr/>
        </p:nvPicPr>
        <p:blipFill>
          <a:blip r:embed="rId1"/>
          <a:stretch>
            <a:fillRect/>
          </a:stretch>
        </p:blipFill>
        <p:spPr>
          <a:xfrm>
            <a:off x="640080" y="640080"/>
            <a:ext cx="502920" cy="502920"/>
          </a:xfrm>
          <a:prstGeom prst="rect">
            <a:avLst/>
          </a:prstGeom>
        </p:spPr>
      </p:pic>
      <p:sp>
        <p:nvSpPr>
          <p:cNvPr id="6" name="Text 3"/>
          <p:cNvSpPr/>
          <p:nvPr/>
        </p:nvSpPr>
        <p:spPr>
          <a:xfrm>
            <a:off x="1280160" y="621792"/>
            <a:ext cx="5486400" cy="365760"/>
          </a:xfrm>
          <a:prstGeom prst="rect">
            <a:avLst/>
          </a:prstGeom>
          <a:noFill/>
          <a:ln/>
        </p:spPr>
        <p:txBody>
          <a:bodyPr wrap="square" lIns="0" tIns="0" rIns="0" bIns="0" rtlCol="0" anchor="ctr"/>
          <a:lstStyle/>
          <a:p>
            <a:pPr indent="0" marL="0">
              <a:buNone/>
            </a:pPr>
            <a:r>
              <a:rPr lang="en-US" sz="1400" b="1" spc="300" kern="0" dirty="0">
                <a:solidFill>
                  <a:srgbClr val="8FD0E8"/>
                </a:solidFill>
                <a:latin typeface="Calibri" pitchFamily="34" charset="0"/>
                <a:ea typeface="Calibri" pitchFamily="34" charset="-122"/>
                <a:cs typeface="Calibri" pitchFamily="34" charset="-120"/>
              </a:rPr>
              <a:t>DATA SCIENCE MINI PROJECT</a:t>
            </a:r>
            <a:endParaRPr lang="en-US" sz="1400" dirty="0"/>
          </a:p>
        </p:txBody>
      </p:sp>
      <p:sp>
        <p:nvSpPr>
          <p:cNvPr id="7" name="Text 4"/>
          <p:cNvSpPr/>
          <p:nvPr/>
        </p:nvSpPr>
        <p:spPr>
          <a:xfrm>
            <a:off x="640080" y="1828800"/>
            <a:ext cx="8686800" cy="2377440"/>
          </a:xfrm>
          <a:prstGeom prst="rect">
            <a:avLst/>
          </a:prstGeom>
          <a:noFill/>
          <a:ln/>
        </p:spPr>
        <p:txBody>
          <a:bodyPr wrap="square" lIns="0" tIns="0" rIns="0" bIns="0" rtlCol="0" anchor="ctr"/>
          <a:lstStyle/>
          <a:p>
            <a:pPr indent="0" marL="0">
              <a:lnSpc>
                <a:spcPct val="108000"/>
              </a:lnSpc>
              <a:buNone/>
            </a:pPr>
            <a:r>
              <a:rPr lang="en-US" sz="4400" b="1" dirty="0">
                <a:solidFill>
                  <a:srgbClr val="FFFFFF"/>
                </a:solidFill>
                <a:latin typeface="Cambria" pitchFamily="34" charset="0"/>
                <a:ea typeface="Cambria" pitchFamily="34" charset="-122"/>
                <a:cs typeface="Cambria" pitchFamily="34" charset="-120"/>
              </a:rPr>
              <a:t>Study Habits and Academic</a:t>
            </a:r>
            <a:endParaRPr lang="en-US" sz="4400" dirty="0"/>
          </a:p>
          <a:p>
            <a:pPr indent="0" marL="0">
              <a:lnSpc>
                <a:spcPct val="108000"/>
              </a:lnSpc>
              <a:buNone/>
            </a:pPr>
            <a:r>
              <a:rPr lang="en-US" sz="4400" b="1" dirty="0">
                <a:solidFill>
                  <a:srgbClr val="FFFFFF"/>
                </a:solidFill>
                <a:latin typeface="Cambria" pitchFamily="34" charset="0"/>
                <a:ea typeface="Cambria" pitchFamily="34" charset="-122"/>
                <a:cs typeface="Cambria" pitchFamily="34" charset="-120"/>
              </a:rPr>
              <a:t>Performance of Engineering</a:t>
            </a:r>
            <a:endParaRPr lang="en-US" sz="4400" dirty="0"/>
          </a:p>
          <a:p>
            <a:pPr indent="0" marL="0">
              <a:lnSpc>
                <a:spcPct val="108000"/>
              </a:lnSpc>
              <a:buNone/>
            </a:pPr>
            <a:r>
              <a:rPr lang="en-US" sz="4400" b="1" dirty="0">
                <a:solidFill>
                  <a:srgbClr val="FFFFFF"/>
                </a:solidFill>
                <a:latin typeface="Cambria" pitchFamily="34" charset="0"/>
                <a:ea typeface="Cambria" pitchFamily="34" charset="-122"/>
                <a:cs typeface="Cambria" pitchFamily="34" charset="-120"/>
              </a:rPr>
              <a:t>Students During Holidays</a:t>
            </a:r>
            <a:endParaRPr lang="en-US" sz="4400" dirty="0"/>
          </a:p>
        </p:txBody>
      </p:sp>
      <p:sp>
        <p:nvSpPr>
          <p:cNvPr id="8" name="Text 5"/>
          <p:cNvSpPr/>
          <p:nvPr/>
        </p:nvSpPr>
        <p:spPr>
          <a:xfrm>
            <a:off x="640080" y="4297680"/>
            <a:ext cx="7040880" cy="914400"/>
          </a:xfrm>
          <a:prstGeom prst="rect">
            <a:avLst/>
          </a:prstGeom>
          <a:noFill/>
          <a:ln/>
        </p:spPr>
        <p:txBody>
          <a:bodyPr wrap="square" lIns="0" tIns="0" rIns="0" bIns="0" rtlCol="0" anchor="ctr"/>
          <a:lstStyle/>
          <a:p>
            <a:pPr indent="0" marL="0">
              <a:lnSpc>
                <a:spcPct val="115000"/>
              </a:lnSpc>
              <a:buNone/>
            </a:pPr>
            <a:r>
              <a:rPr lang="en-US" sz="1500" dirty="0">
                <a:solidFill>
                  <a:srgbClr val="C9D8E8"/>
                </a:solidFill>
                <a:latin typeface="Calibri" pitchFamily="34" charset="0"/>
                <a:ea typeface="Calibri" pitchFamily="34" charset="-122"/>
                <a:cs typeface="Calibri" pitchFamily="34" charset="-120"/>
              </a:rPr>
              <a:t>An exploratory survey-based analysis of how engineering students utilise their holiday time, and how habits such as study routines, attendance, and digital-tool usage relate to academic performance.</a:t>
            </a:r>
            <a:endParaRPr lang="en-US" sz="1500" dirty="0"/>
          </a:p>
        </p:txBody>
      </p:sp>
      <p:sp>
        <p:nvSpPr>
          <p:cNvPr id="9" name="Shape 6"/>
          <p:cNvSpPr/>
          <p:nvPr/>
        </p:nvSpPr>
        <p:spPr>
          <a:xfrm>
            <a:off x="658368" y="5532120"/>
            <a:ext cx="0" cy="640080"/>
          </a:xfrm>
          <a:prstGeom prst="line">
            <a:avLst/>
          </a:prstGeom>
          <a:noFill/>
          <a:ln w="25400">
            <a:solidFill>
              <a:srgbClr val="8FD0E8"/>
            </a:solidFill>
            <a:prstDash val="solid"/>
          </a:ln>
        </p:spPr>
      </p:sp>
      <p:sp>
        <p:nvSpPr>
          <p:cNvPr id="10" name="Text 7"/>
          <p:cNvSpPr/>
          <p:nvPr/>
        </p:nvSpPr>
        <p:spPr>
          <a:xfrm>
            <a:off x="868680" y="5532120"/>
            <a:ext cx="73152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Survey Sample: </a:t>
            </a:r>
            <a:pPr indent="0" marL="0">
              <a:buNone/>
            </a:pPr>
            <a:r>
              <a:rPr lang="en-US" sz="1300" dirty="0">
                <a:solidFill>
                  <a:srgbClr val="C9D8E8"/>
                </a:solidFill>
                <a:latin typeface="Calibri" pitchFamily="34" charset="0"/>
                <a:ea typeface="Calibri" pitchFamily="34" charset="-122"/>
                <a:cs typeface="Calibri" pitchFamily="34" charset="-120"/>
              </a:rPr>
              <a:t>20 Engineering Students (Google Forms Survey)</a:t>
            </a:r>
            <a:endParaRPr lang="en-US" sz="1300" dirty="0"/>
          </a:p>
        </p:txBody>
      </p:sp>
      <p:sp>
        <p:nvSpPr>
          <p:cNvPr id="11" name="Shape 8"/>
          <p:cNvSpPr/>
          <p:nvPr/>
        </p:nvSpPr>
        <p:spPr>
          <a:xfrm>
            <a:off x="7818120" y="4800600"/>
            <a:ext cx="3840480" cy="1737360"/>
          </a:xfrm>
          <a:prstGeom prst="roundRect">
            <a:avLst>
              <a:gd name="adj" fmla="val 4211"/>
            </a:avLst>
          </a:prstGeom>
          <a:solidFill>
            <a:srgbClr val="065A82">
              <a:alpha val="65000"/>
            </a:srgbClr>
          </a:solidFill>
          <a:ln/>
        </p:spPr>
      </p:sp>
      <p:sp>
        <p:nvSpPr>
          <p:cNvPr id="12" name="Text 9"/>
          <p:cNvSpPr/>
          <p:nvPr/>
        </p:nvSpPr>
        <p:spPr>
          <a:xfrm>
            <a:off x="8092440" y="4956048"/>
            <a:ext cx="3291840" cy="320040"/>
          </a:xfrm>
          <a:prstGeom prst="rect">
            <a:avLst/>
          </a:prstGeom>
          <a:noFill/>
          <a:ln/>
        </p:spPr>
        <p:txBody>
          <a:bodyPr wrap="square" lIns="0" tIns="0" rIns="0" bIns="0" rtlCol="0" anchor="ctr"/>
          <a:lstStyle/>
          <a:p>
            <a:pPr indent="0" marL="0">
              <a:buNone/>
            </a:pPr>
            <a:r>
              <a:rPr lang="en-US" sz="1100" b="1" spc="200" kern="0" dirty="0">
                <a:solidFill>
                  <a:srgbClr val="8FD0E8"/>
                </a:solidFill>
                <a:latin typeface="Calibri" pitchFamily="34" charset="0"/>
                <a:ea typeface="Calibri" pitchFamily="34" charset="-122"/>
                <a:cs typeface="Calibri" pitchFamily="34" charset="-120"/>
              </a:rPr>
              <a:t>PRESENTED BY</a:t>
            </a:r>
            <a:endParaRPr lang="en-US" sz="1100" dirty="0"/>
          </a:p>
        </p:txBody>
      </p:sp>
      <p:sp>
        <p:nvSpPr>
          <p:cNvPr id="13" name="Text 10"/>
          <p:cNvSpPr/>
          <p:nvPr/>
        </p:nvSpPr>
        <p:spPr>
          <a:xfrm>
            <a:off x="8092440" y="5266944"/>
            <a:ext cx="329184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Hema Madhuri Namana</a:t>
            </a:r>
            <a:endParaRPr lang="en-US" sz="1700" dirty="0"/>
          </a:p>
        </p:txBody>
      </p:sp>
      <p:sp>
        <p:nvSpPr>
          <p:cNvPr id="14" name="Text 11"/>
          <p:cNvSpPr/>
          <p:nvPr/>
        </p:nvSpPr>
        <p:spPr>
          <a:xfrm>
            <a:off x="8092440" y="5650992"/>
            <a:ext cx="3291840" cy="320040"/>
          </a:xfrm>
          <a:prstGeom prst="rect">
            <a:avLst/>
          </a:prstGeom>
          <a:noFill/>
          <a:ln/>
        </p:spPr>
        <p:txBody>
          <a:bodyPr wrap="square" lIns="0" tIns="0" rIns="0" bIns="0" rtlCol="0" anchor="ctr"/>
          <a:lstStyle/>
          <a:p>
            <a:pPr indent="0" marL="0">
              <a:buNone/>
            </a:pPr>
            <a:r>
              <a:rPr lang="en-US" sz="1250" dirty="0">
                <a:solidFill>
                  <a:srgbClr val="C9D8E8"/>
                </a:solidFill>
                <a:latin typeface="Calibri" pitchFamily="34" charset="0"/>
                <a:ea typeface="Calibri" pitchFamily="34" charset="-122"/>
                <a:cs typeface="Calibri" pitchFamily="34" charset="-120"/>
              </a:rPr>
              <a:t>B.Tech CSE-AIML, SR University</a:t>
            </a:r>
            <a:endParaRPr lang="en-US" sz="1250" dirty="0"/>
          </a:p>
        </p:txBody>
      </p:sp>
      <p:sp>
        <p:nvSpPr>
          <p:cNvPr id="15" name="Text 12"/>
          <p:cNvSpPr/>
          <p:nvPr/>
        </p:nvSpPr>
        <p:spPr>
          <a:xfrm>
            <a:off x="8092440" y="5961888"/>
            <a:ext cx="3291840" cy="320040"/>
          </a:xfrm>
          <a:prstGeom prst="rect">
            <a:avLst/>
          </a:prstGeom>
          <a:noFill/>
          <a:ln/>
        </p:spPr>
        <p:txBody>
          <a:bodyPr wrap="square" lIns="0" tIns="0" rIns="0" bIns="0" rtlCol="0" anchor="ctr"/>
          <a:lstStyle/>
          <a:p>
            <a:pPr indent="0" marL="0">
              <a:buNone/>
            </a:pPr>
            <a:r>
              <a:rPr lang="en-US" sz="1250" b="1" dirty="0">
                <a:solidFill>
                  <a:srgbClr val="8FD0E8"/>
                </a:solidFill>
                <a:latin typeface="Calibri" pitchFamily="34" charset="0"/>
                <a:ea typeface="Calibri" pitchFamily="34" charset="-122"/>
                <a:cs typeface="Calibri" pitchFamily="34" charset="-120"/>
              </a:rPr>
              <a:t>Current CGPA: 9.5</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PROJECT OVERVIEW</a:t>
            </a:r>
            <a:endParaRPr lang="en-US" sz="13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Introduction &amp; Objectives</a:t>
            </a:r>
            <a:endParaRPr lang="en-US" sz="3000" dirty="0"/>
          </a:p>
        </p:txBody>
      </p:sp>
      <p:sp>
        <p:nvSpPr>
          <p:cNvPr id="4" name="Text 2"/>
          <p:cNvSpPr/>
          <p:nvPr/>
        </p:nvSpPr>
        <p:spPr>
          <a:xfrm>
            <a:off x="548640" y="1554480"/>
            <a:ext cx="6309360" cy="2011680"/>
          </a:xfrm>
          <a:prstGeom prst="rect">
            <a:avLst/>
          </a:prstGeom>
          <a:noFill/>
          <a:ln/>
        </p:spPr>
        <p:txBody>
          <a:bodyPr wrap="square" lIns="0" tIns="0" rIns="0" bIns="0" rtlCol="0" anchor="ctr"/>
          <a:lstStyle/>
          <a:p>
            <a:pPr indent="0" marL="0">
              <a:lnSpc>
                <a:spcPct val="125000"/>
              </a:lnSpc>
              <a:buNone/>
            </a:pPr>
            <a:r>
              <a:rPr lang="en-US" sz="1500" dirty="0">
                <a:solidFill>
                  <a:srgbClr val="44546A"/>
                </a:solidFill>
                <a:latin typeface="Calibri" pitchFamily="34" charset="0"/>
                <a:ea typeface="Calibri" pitchFamily="34" charset="-122"/>
                <a:cs typeface="Calibri" pitchFamily="34" charset="-120"/>
              </a:rPr>
              <a:t>Holidays form a significant portion of an academic year, yet how students choose to spend this time varies widely — from intensive self-study to complete disengagement. This project uses survey data collected from 20 engineering students to explore patterns in holiday study behaviour, attendance attitudes, AI-tool adoption, and the challenges students face, in order to draw data-driven insights about what supports (or hinders) academic performance.</a:t>
            </a:r>
            <a:endParaRPr lang="en-US" sz="1500" dirty="0"/>
          </a:p>
        </p:txBody>
      </p:sp>
      <p:sp>
        <p:nvSpPr>
          <p:cNvPr id="5" name="Shape 3"/>
          <p:cNvSpPr/>
          <p:nvPr/>
        </p:nvSpPr>
        <p:spPr>
          <a:xfrm>
            <a:off x="7132320" y="1417320"/>
            <a:ext cx="2148840" cy="2331720"/>
          </a:xfrm>
          <a:prstGeom prst="roundRect">
            <a:avLst>
              <a:gd name="adj" fmla="val 3404"/>
            </a:avLst>
          </a:prstGeom>
          <a:solidFill>
            <a:srgbClr val="EAF2F6"/>
          </a:solidFill>
          <a:ln/>
          <a:effectLst>
            <a:outerShdw sx="100000" sy="100000" kx="0" ky="0" algn="bl" rotWithShape="0" blurRad="50800" dist="12700" dir="5400000">
              <a:srgbClr val="000000">
                <a:alpha val="8000"/>
              </a:srgbClr>
            </a:outerShdw>
          </a:effectLst>
        </p:spPr>
      </p:sp>
      <p:sp>
        <p:nvSpPr>
          <p:cNvPr id="6" name="Shape 4"/>
          <p:cNvSpPr/>
          <p:nvPr/>
        </p:nvSpPr>
        <p:spPr>
          <a:xfrm>
            <a:off x="7315200" y="1600200"/>
            <a:ext cx="457200" cy="457200"/>
          </a:xfrm>
          <a:prstGeom prst="ellipse">
            <a:avLst/>
          </a:prstGeom>
          <a:solidFill>
            <a:srgbClr val="FFFFFF"/>
          </a:solidFill>
          <a:ln/>
        </p:spPr>
      </p:sp>
      <p:pic>
        <p:nvPicPr>
          <p:cNvPr id="7" name="Image 0" descr="/home/claude/icons/bullseye_teal.png">    </p:cNvPr>
          <p:cNvPicPr>
            <a:picLocks noChangeAspect="1"/>
          </p:cNvPicPr>
          <p:nvPr/>
        </p:nvPicPr>
        <p:blipFill>
          <a:blip r:embed="rId1"/>
          <a:stretch>
            <a:fillRect/>
          </a:stretch>
        </p:blipFill>
        <p:spPr>
          <a:xfrm>
            <a:off x="7411212" y="1696212"/>
            <a:ext cx="265176" cy="265176"/>
          </a:xfrm>
          <a:prstGeom prst="rect">
            <a:avLst/>
          </a:prstGeom>
        </p:spPr>
      </p:pic>
      <p:sp>
        <p:nvSpPr>
          <p:cNvPr id="8" name="Text 5"/>
          <p:cNvSpPr/>
          <p:nvPr/>
        </p:nvSpPr>
        <p:spPr>
          <a:xfrm>
            <a:off x="7315200" y="2194560"/>
            <a:ext cx="1783080" cy="685800"/>
          </a:xfrm>
          <a:prstGeom prst="rect">
            <a:avLst/>
          </a:prstGeom>
          <a:noFill/>
          <a:ln/>
        </p:spPr>
        <p:txBody>
          <a:bodyPr wrap="square" lIns="0" tIns="0" rIns="0" bIns="0" rtlCol="0" anchor="ctr"/>
          <a:lstStyle/>
          <a:p>
            <a:pPr indent="0" marL="0">
              <a:lnSpc>
                <a:spcPct val="105000"/>
              </a:lnSpc>
              <a:buNone/>
            </a:pPr>
            <a:r>
              <a:rPr lang="en-US" sz="1300" b="1" dirty="0">
                <a:solidFill>
                  <a:srgbClr val="21295C"/>
                </a:solidFill>
                <a:latin typeface="Calibri" pitchFamily="34" charset="0"/>
                <a:ea typeface="Calibri" pitchFamily="34" charset="-122"/>
                <a:cs typeface="Calibri" pitchFamily="34" charset="-120"/>
              </a:rPr>
              <a:t>Analyse Holiday Study Patterns</a:t>
            </a:r>
            <a:endParaRPr lang="en-US" sz="1300" dirty="0"/>
          </a:p>
        </p:txBody>
      </p:sp>
      <p:sp>
        <p:nvSpPr>
          <p:cNvPr id="9" name="Text 6"/>
          <p:cNvSpPr/>
          <p:nvPr/>
        </p:nvSpPr>
        <p:spPr>
          <a:xfrm>
            <a:off x="7315200" y="2834640"/>
            <a:ext cx="1783080" cy="868680"/>
          </a:xfrm>
          <a:prstGeom prst="rect">
            <a:avLst/>
          </a:prstGeom>
          <a:noFill/>
          <a:ln/>
        </p:spPr>
        <p:txBody>
          <a:bodyPr wrap="square" lIns="0" tIns="0" rIns="0" bIns="0" rtlCol="0" anchor="ctr"/>
          <a:lstStyle/>
          <a:p>
            <a:pPr indent="0" marL="0">
              <a:lnSpc>
                <a:spcPct val="115000"/>
              </a:lnSpc>
              <a:buNone/>
            </a:pPr>
            <a:r>
              <a:rPr lang="en-US" sz="1050" dirty="0">
                <a:solidFill>
                  <a:srgbClr val="44546A"/>
                </a:solidFill>
                <a:latin typeface="Calibri" pitchFamily="34" charset="0"/>
                <a:ea typeface="Calibri" pitchFamily="34" charset="-122"/>
                <a:cs typeface="Calibri" pitchFamily="34" charset="-120"/>
              </a:rPr>
              <a:t>Examine how many hours students study daily during holidays and how they allocate free time.</a:t>
            </a:r>
            <a:endParaRPr lang="en-US" sz="1050" dirty="0"/>
          </a:p>
        </p:txBody>
      </p:sp>
      <p:sp>
        <p:nvSpPr>
          <p:cNvPr id="10" name="Shape 7"/>
          <p:cNvSpPr/>
          <p:nvPr/>
        </p:nvSpPr>
        <p:spPr>
          <a:xfrm>
            <a:off x="9509760" y="1417320"/>
            <a:ext cx="2148840" cy="2331720"/>
          </a:xfrm>
          <a:prstGeom prst="roundRect">
            <a:avLst>
              <a:gd name="adj" fmla="val 3404"/>
            </a:avLst>
          </a:prstGeom>
          <a:solidFill>
            <a:srgbClr val="EAF2F6"/>
          </a:solidFill>
          <a:ln/>
          <a:effectLst>
            <a:outerShdw sx="100000" sy="100000" kx="0" ky="0" algn="bl" rotWithShape="0" blurRad="50800" dist="12700" dir="5400000">
              <a:srgbClr val="000000">
                <a:alpha val="8000"/>
              </a:srgbClr>
            </a:outerShdw>
          </a:effectLst>
        </p:spPr>
      </p:sp>
      <p:sp>
        <p:nvSpPr>
          <p:cNvPr id="11" name="Shape 8"/>
          <p:cNvSpPr/>
          <p:nvPr/>
        </p:nvSpPr>
        <p:spPr>
          <a:xfrm>
            <a:off x="9692640" y="1600200"/>
            <a:ext cx="457200" cy="457200"/>
          </a:xfrm>
          <a:prstGeom prst="ellipse">
            <a:avLst/>
          </a:prstGeom>
          <a:solidFill>
            <a:srgbClr val="FFFFFF"/>
          </a:solidFill>
          <a:ln/>
        </p:spPr>
      </p:sp>
      <p:pic>
        <p:nvPicPr>
          <p:cNvPr id="12" name="Image 1" descr="/home/claude/icons/chartline_teal.png">    </p:cNvPr>
          <p:cNvPicPr>
            <a:picLocks noChangeAspect="1"/>
          </p:cNvPicPr>
          <p:nvPr/>
        </p:nvPicPr>
        <p:blipFill>
          <a:blip r:embed="rId2"/>
          <a:stretch>
            <a:fillRect/>
          </a:stretch>
        </p:blipFill>
        <p:spPr>
          <a:xfrm>
            <a:off x="9788652" y="1696212"/>
            <a:ext cx="265176" cy="265176"/>
          </a:xfrm>
          <a:prstGeom prst="rect">
            <a:avLst/>
          </a:prstGeom>
        </p:spPr>
      </p:pic>
      <p:sp>
        <p:nvSpPr>
          <p:cNvPr id="13" name="Text 9"/>
          <p:cNvSpPr/>
          <p:nvPr/>
        </p:nvSpPr>
        <p:spPr>
          <a:xfrm>
            <a:off x="9692640" y="2194560"/>
            <a:ext cx="1783080" cy="685800"/>
          </a:xfrm>
          <a:prstGeom prst="rect">
            <a:avLst/>
          </a:prstGeom>
          <a:noFill/>
          <a:ln/>
        </p:spPr>
        <p:txBody>
          <a:bodyPr wrap="square" lIns="0" tIns="0" rIns="0" bIns="0" rtlCol="0" anchor="ctr"/>
          <a:lstStyle/>
          <a:p>
            <a:pPr indent="0" marL="0">
              <a:lnSpc>
                <a:spcPct val="105000"/>
              </a:lnSpc>
              <a:buNone/>
            </a:pPr>
            <a:r>
              <a:rPr lang="en-US" sz="1300" b="1" dirty="0">
                <a:solidFill>
                  <a:srgbClr val="21295C"/>
                </a:solidFill>
                <a:latin typeface="Calibri" pitchFamily="34" charset="0"/>
                <a:ea typeface="Calibri" pitchFamily="34" charset="-122"/>
                <a:cs typeface="Calibri" pitchFamily="34" charset="-120"/>
              </a:rPr>
              <a:t>Correlate Habits with CGPA</a:t>
            </a:r>
            <a:endParaRPr lang="en-US" sz="1300" dirty="0"/>
          </a:p>
        </p:txBody>
      </p:sp>
      <p:sp>
        <p:nvSpPr>
          <p:cNvPr id="14" name="Text 10"/>
          <p:cNvSpPr/>
          <p:nvPr/>
        </p:nvSpPr>
        <p:spPr>
          <a:xfrm>
            <a:off x="9692640" y="2834640"/>
            <a:ext cx="1783080" cy="868680"/>
          </a:xfrm>
          <a:prstGeom prst="rect">
            <a:avLst/>
          </a:prstGeom>
          <a:noFill/>
          <a:ln/>
        </p:spPr>
        <p:txBody>
          <a:bodyPr wrap="square" lIns="0" tIns="0" rIns="0" bIns="0" rtlCol="0" anchor="ctr"/>
          <a:lstStyle/>
          <a:p>
            <a:pPr indent="0" marL="0">
              <a:lnSpc>
                <a:spcPct val="115000"/>
              </a:lnSpc>
              <a:buNone/>
            </a:pPr>
            <a:r>
              <a:rPr lang="en-US" sz="1050" dirty="0">
                <a:solidFill>
                  <a:srgbClr val="44546A"/>
                </a:solidFill>
                <a:latin typeface="Calibri" pitchFamily="34" charset="0"/>
                <a:ea typeface="Calibri" pitchFamily="34" charset="-122"/>
                <a:cs typeface="Calibri" pitchFamily="34" charset="-120"/>
              </a:rPr>
              <a:t>Compare CGPA distribution against study routines, time-table discipline, and attendance views.</a:t>
            </a:r>
            <a:endParaRPr lang="en-US" sz="1050" dirty="0"/>
          </a:p>
        </p:txBody>
      </p:sp>
      <p:sp>
        <p:nvSpPr>
          <p:cNvPr id="15" name="Shape 11"/>
          <p:cNvSpPr/>
          <p:nvPr/>
        </p:nvSpPr>
        <p:spPr>
          <a:xfrm>
            <a:off x="7132320" y="3977640"/>
            <a:ext cx="2148840" cy="2331720"/>
          </a:xfrm>
          <a:prstGeom prst="roundRect">
            <a:avLst>
              <a:gd name="adj" fmla="val 3404"/>
            </a:avLst>
          </a:prstGeom>
          <a:solidFill>
            <a:srgbClr val="EAF2F6"/>
          </a:solidFill>
          <a:ln/>
          <a:effectLst>
            <a:outerShdw sx="100000" sy="100000" kx="0" ky="0" algn="bl" rotWithShape="0" blurRad="50800" dist="12700" dir="5400000">
              <a:srgbClr val="000000">
                <a:alpha val="8000"/>
              </a:srgbClr>
            </a:outerShdw>
          </a:effectLst>
        </p:spPr>
      </p:sp>
      <p:sp>
        <p:nvSpPr>
          <p:cNvPr id="16" name="Shape 12"/>
          <p:cNvSpPr/>
          <p:nvPr/>
        </p:nvSpPr>
        <p:spPr>
          <a:xfrm>
            <a:off x="7315200" y="4160520"/>
            <a:ext cx="457200" cy="457200"/>
          </a:xfrm>
          <a:prstGeom prst="ellipse">
            <a:avLst/>
          </a:prstGeom>
          <a:solidFill>
            <a:srgbClr val="FFFFFF"/>
          </a:solidFill>
          <a:ln/>
        </p:spPr>
      </p:sp>
      <p:pic>
        <p:nvPicPr>
          <p:cNvPr id="17" name="Image 2" descr="/home/claude/icons/robot_teal.png">    </p:cNvPr>
          <p:cNvPicPr>
            <a:picLocks noChangeAspect="1"/>
          </p:cNvPicPr>
          <p:nvPr/>
        </p:nvPicPr>
        <p:blipFill>
          <a:blip r:embed="rId3"/>
          <a:stretch>
            <a:fillRect/>
          </a:stretch>
        </p:blipFill>
        <p:spPr>
          <a:xfrm>
            <a:off x="7411212" y="4256532"/>
            <a:ext cx="265176" cy="265176"/>
          </a:xfrm>
          <a:prstGeom prst="rect">
            <a:avLst/>
          </a:prstGeom>
        </p:spPr>
      </p:pic>
      <p:sp>
        <p:nvSpPr>
          <p:cNvPr id="18" name="Text 13"/>
          <p:cNvSpPr/>
          <p:nvPr/>
        </p:nvSpPr>
        <p:spPr>
          <a:xfrm>
            <a:off x="7315200" y="4754880"/>
            <a:ext cx="1783080" cy="685800"/>
          </a:xfrm>
          <a:prstGeom prst="rect">
            <a:avLst/>
          </a:prstGeom>
          <a:noFill/>
          <a:ln/>
        </p:spPr>
        <p:txBody>
          <a:bodyPr wrap="square" lIns="0" tIns="0" rIns="0" bIns="0" rtlCol="0" anchor="ctr"/>
          <a:lstStyle/>
          <a:p>
            <a:pPr indent="0" marL="0">
              <a:lnSpc>
                <a:spcPct val="105000"/>
              </a:lnSpc>
              <a:buNone/>
            </a:pPr>
            <a:r>
              <a:rPr lang="en-US" sz="1300" b="1" dirty="0">
                <a:solidFill>
                  <a:srgbClr val="21295C"/>
                </a:solidFill>
                <a:latin typeface="Calibri" pitchFamily="34" charset="0"/>
                <a:ea typeface="Calibri" pitchFamily="34" charset="-122"/>
                <a:cs typeface="Calibri" pitchFamily="34" charset="-120"/>
              </a:rPr>
              <a:t>Assess AI Tool Adoption</a:t>
            </a:r>
            <a:endParaRPr lang="en-US" sz="1300" dirty="0"/>
          </a:p>
        </p:txBody>
      </p:sp>
      <p:sp>
        <p:nvSpPr>
          <p:cNvPr id="19" name="Text 14"/>
          <p:cNvSpPr/>
          <p:nvPr/>
        </p:nvSpPr>
        <p:spPr>
          <a:xfrm>
            <a:off x="7315200" y="5394960"/>
            <a:ext cx="1783080" cy="868680"/>
          </a:xfrm>
          <a:prstGeom prst="rect">
            <a:avLst/>
          </a:prstGeom>
          <a:noFill/>
          <a:ln/>
        </p:spPr>
        <p:txBody>
          <a:bodyPr wrap="square" lIns="0" tIns="0" rIns="0" bIns="0" rtlCol="0" anchor="ctr"/>
          <a:lstStyle/>
          <a:p>
            <a:pPr indent="0" marL="0">
              <a:lnSpc>
                <a:spcPct val="115000"/>
              </a:lnSpc>
              <a:buNone/>
            </a:pPr>
            <a:r>
              <a:rPr lang="en-US" sz="1050" dirty="0">
                <a:solidFill>
                  <a:srgbClr val="44546A"/>
                </a:solidFill>
                <a:latin typeface="Calibri" pitchFamily="34" charset="0"/>
                <a:ea typeface="Calibri" pitchFamily="34" charset="-122"/>
                <a:cs typeface="Calibri" pitchFamily="34" charset="-120"/>
              </a:rPr>
              <a:t>Understand frequency of AI tool (ChatGPT, Gemini) usage for academic learning.</a:t>
            </a:r>
            <a:endParaRPr lang="en-US" sz="1050" dirty="0"/>
          </a:p>
        </p:txBody>
      </p:sp>
      <p:sp>
        <p:nvSpPr>
          <p:cNvPr id="20" name="Shape 15"/>
          <p:cNvSpPr/>
          <p:nvPr/>
        </p:nvSpPr>
        <p:spPr>
          <a:xfrm>
            <a:off x="9509760" y="3977640"/>
            <a:ext cx="2148840" cy="2331720"/>
          </a:xfrm>
          <a:prstGeom prst="roundRect">
            <a:avLst>
              <a:gd name="adj" fmla="val 3404"/>
            </a:avLst>
          </a:prstGeom>
          <a:solidFill>
            <a:srgbClr val="EAF2F6"/>
          </a:solidFill>
          <a:ln/>
          <a:effectLst>
            <a:outerShdw sx="100000" sy="100000" kx="0" ky="0" algn="bl" rotWithShape="0" blurRad="50800" dist="12700" dir="5400000">
              <a:srgbClr val="000000">
                <a:alpha val="8000"/>
              </a:srgbClr>
            </a:outerShdw>
          </a:effectLst>
        </p:spPr>
      </p:sp>
      <p:sp>
        <p:nvSpPr>
          <p:cNvPr id="21" name="Shape 16"/>
          <p:cNvSpPr/>
          <p:nvPr/>
        </p:nvSpPr>
        <p:spPr>
          <a:xfrm>
            <a:off x="9692640" y="4160520"/>
            <a:ext cx="457200" cy="457200"/>
          </a:xfrm>
          <a:prstGeom prst="ellipse">
            <a:avLst/>
          </a:prstGeom>
          <a:solidFill>
            <a:srgbClr val="FFFFFF"/>
          </a:solidFill>
          <a:ln/>
        </p:spPr>
      </p:sp>
      <p:pic>
        <p:nvPicPr>
          <p:cNvPr id="22" name="Image 3" descr="/home/claude/icons/exclamation_teal.png">    </p:cNvPr>
          <p:cNvPicPr>
            <a:picLocks noChangeAspect="1"/>
          </p:cNvPicPr>
          <p:nvPr/>
        </p:nvPicPr>
        <p:blipFill>
          <a:blip r:embed="rId4"/>
          <a:stretch>
            <a:fillRect/>
          </a:stretch>
        </p:blipFill>
        <p:spPr>
          <a:xfrm>
            <a:off x="9788652" y="4256532"/>
            <a:ext cx="265176" cy="265176"/>
          </a:xfrm>
          <a:prstGeom prst="rect">
            <a:avLst/>
          </a:prstGeom>
        </p:spPr>
      </p:pic>
      <p:sp>
        <p:nvSpPr>
          <p:cNvPr id="23" name="Text 17"/>
          <p:cNvSpPr/>
          <p:nvPr/>
        </p:nvSpPr>
        <p:spPr>
          <a:xfrm>
            <a:off x="9692640" y="4754880"/>
            <a:ext cx="1783080" cy="685800"/>
          </a:xfrm>
          <a:prstGeom prst="rect">
            <a:avLst/>
          </a:prstGeom>
          <a:noFill/>
          <a:ln/>
        </p:spPr>
        <p:txBody>
          <a:bodyPr wrap="square" lIns="0" tIns="0" rIns="0" bIns="0" rtlCol="0" anchor="ctr"/>
          <a:lstStyle/>
          <a:p>
            <a:pPr indent="0" marL="0">
              <a:lnSpc>
                <a:spcPct val="105000"/>
              </a:lnSpc>
              <a:buNone/>
            </a:pPr>
            <a:r>
              <a:rPr lang="en-US" sz="1300" b="1" dirty="0">
                <a:solidFill>
                  <a:srgbClr val="21295C"/>
                </a:solidFill>
                <a:latin typeface="Calibri" pitchFamily="34" charset="0"/>
                <a:ea typeface="Calibri" pitchFamily="34" charset="-122"/>
                <a:cs typeface="Calibri" pitchFamily="34" charset="-120"/>
              </a:rPr>
              <a:t>Identify Key Challenges</a:t>
            </a:r>
            <a:endParaRPr lang="en-US" sz="1300" dirty="0"/>
          </a:p>
        </p:txBody>
      </p:sp>
      <p:sp>
        <p:nvSpPr>
          <p:cNvPr id="24" name="Text 18"/>
          <p:cNvSpPr/>
          <p:nvPr/>
        </p:nvSpPr>
        <p:spPr>
          <a:xfrm>
            <a:off x="9692640" y="5394960"/>
            <a:ext cx="1783080" cy="868680"/>
          </a:xfrm>
          <a:prstGeom prst="rect">
            <a:avLst/>
          </a:prstGeom>
          <a:noFill/>
          <a:ln/>
        </p:spPr>
        <p:txBody>
          <a:bodyPr wrap="square" lIns="0" tIns="0" rIns="0" bIns="0" rtlCol="0" anchor="ctr"/>
          <a:lstStyle/>
          <a:p>
            <a:pPr indent="0" marL="0">
              <a:lnSpc>
                <a:spcPct val="115000"/>
              </a:lnSpc>
              <a:buNone/>
            </a:pPr>
            <a:r>
              <a:rPr lang="en-US" sz="1050" dirty="0">
                <a:solidFill>
                  <a:srgbClr val="44546A"/>
                </a:solidFill>
                <a:latin typeface="Calibri" pitchFamily="34" charset="0"/>
                <a:ea typeface="Calibri" pitchFamily="34" charset="-122"/>
                <a:cs typeface="Calibri" pitchFamily="34" charset="-120"/>
              </a:rPr>
              <a:t>Pinpoint the biggest obstacles students face — time management, motivation, distractions.</a:t>
            </a:r>
            <a:endParaRPr lang="en-US" sz="1050" dirty="0"/>
          </a:p>
        </p:txBody>
      </p:sp>
      <p:sp>
        <p:nvSpPr>
          <p:cNvPr id="25" name="Text 19"/>
          <p:cNvSpPr/>
          <p:nvPr/>
        </p:nvSpPr>
        <p:spPr>
          <a:xfrm>
            <a:off x="548640" y="3749040"/>
            <a:ext cx="6309360" cy="1463040"/>
          </a:xfrm>
          <a:prstGeom prst="rect">
            <a:avLst/>
          </a:prstGeom>
          <a:noFill/>
          <a:ln/>
        </p:spPr>
        <p:txBody>
          <a:bodyPr wrap="square" lIns="0" tIns="0" rIns="0" bIns="0" rtlCol="0" anchor="ctr"/>
          <a:lstStyle/>
          <a:p>
            <a:pPr indent="0" marL="0">
              <a:lnSpc>
                <a:spcPct val="130000"/>
              </a:lnSpc>
              <a:buNone/>
            </a:pPr>
            <a:r>
              <a:rPr lang="en-US" sz="1300" b="1" dirty="0">
                <a:solidFill>
                  <a:srgbClr val="21295C"/>
                </a:solidFill>
                <a:latin typeface="Calibri" pitchFamily="34" charset="0"/>
                <a:ea typeface="Calibri" pitchFamily="34" charset="-122"/>
                <a:cs typeface="Calibri" pitchFamily="34" charset="-120"/>
              </a:rPr>
              <a:t>Survey Method:  </a:t>
            </a:r>
            <a:pPr indent="0" marL="0">
              <a:lnSpc>
                <a:spcPct val="130000"/>
              </a:lnSpc>
              <a:buNone/>
            </a:pPr>
            <a:r>
              <a:rPr lang="en-US" sz="1300" dirty="0">
                <a:solidFill>
                  <a:srgbClr val="44546A"/>
                </a:solidFill>
                <a:latin typeface="Calibri" pitchFamily="34" charset="0"/>
                <a:ea typeface="Calibri" pitchFamily="34" charset="-122"/>
                <a:cs typeface="Calibri" pitchFamily="34" charset="-120"/>
              </a:rPr>
              <a:t>An anonymous Google Forms questionnaire covering branch, study hours, CGPA, attendance attitudes, holiday activities, AI-tool usage, and study challenges was circulated among engineering students, receiving 20 responses.</a:t>
            </a:r>
            <a:endParaRPr lang="en-US" sz="1300" dirty="0"/>
          </a:p>
        </p:txBody>
      </p:sp>
      <p:sp>
        <p:nvSpPr>
          <p:cNvPr id="26" name="Text 20"/>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7C8AA5"/>
                </a:solidFill>
                <a:latin typeface="Calibri" pitchFamily="34" charset="0"/>
                <a:ea typeface="Calibri" pitchFamily="34" charset="-122"/>
                <a:cs typeface="Calibri" pitchFamily="34" charset="-120"/>
              </a:rPr>
              <a:t>Study Habits &amp; Academic Performance During Holidays  |  Data Science Mini Project</a:t>
            </a:r>
            <a:endParaRPr lang="en-US" sz="900" dirty="0"/>
          </a:p>
        </p:txBody>
      </p:sp>
      <p:sp>
        <p:nvSpPr>
          <p:cNvPr id="27" name="Text 21"/>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7C8AA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SURVEY DEMOGRAPHICS</a:t>
            </a:r>
            <a:endParaRPr lang="en-US" sz="13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Respondent Profile</a:t>
            </a:r>
            <a:endParaRPr lang="en-US" sz="3000" dirty="0"/>
          </a:p>
        </p:txBody>
      </p:sp>
      <p:sp>
        <p:nvSpPr>
          <p:cNvPr id="4" name="Text 2"/>
          <p:cNvSpPr/>
          <p:nvPr/>
        </p:nvSpPr>
        <p:spPr>
          <a:xfrm>
            <a:off x="548640" y="1508760"/>
            <a:ext cx="5120640" cy="1463040"/>
          </a:xfrm>
          <a:prstGeom prst="rect">
            <a:avLst/>
          </a:prstGeom>
          <a:noFill/>
          <a:ln/>
        </p:spPr>
        <p:txBody>
          <a:bodyPr wrap="square" lIns="0" tIns="0" rIns="0" bIns="0" rtlCol="0" anchor="ctr"/>
          <a:lstStyle/>
          <a:p>
            <a:pPr indent="0" marL="0">
              <a:lnSpc>
                <a:spcPct val="125000"/>
              </a:lnSpc>
              <a:buNone/>
            </a:pPr>
            <a:r>
              <a:rPr lang="en-US" sz="1400" dirty="0">
                <a:solidFill>
                  <a:srgbClr val="44546A"/>
                </a:solidFill>
                <a:latin typeface="Calibri" pitchFamily="34" charset="0"/>
                <a:ea typeface="Calibri" pitchFamily="34" charset="-122"/>
                <a:cs typeface="Calibri" pitchFamily="34" charset="-120"/>
              </a:rPr>
              <a:t>All 20 respondents were engineering students, with the overwhelming majority pursuing a specialised track within Computer Science Engineering. This concentration means the findings are most representative of CS-specialisation students, with limited representation from ECE, Civil, and other branches.</a:t>
            </a:r>
            <a:endParaRPr lang="en-US" sz="1400" dirty="0"/>
          </a:p>
        </p:txBody>
      </p:sp>
      <p:sp>
        <p:nvSpPr>
          <p:cNvPr id="5" name="Shape 3"/>
          <p:cNvSpPr/>
          <p:nvPr/>
        </p:nvSpPr>
        <p:spPr>
          <a:xfrm>
            <a:off x="548640" y="3063240"/>
            <a:ext cx="640080" cy="640080"/>
          </a:xfrm>
          <a:prstGeom prst="ellipse">
            <a:avLst/>
          </a:prstGeom>
          <a:solidFill>
            <a:srgbClr val="EAF2F6"/>
          </a:solidFill>
          <a:ln/>
        </p:spPr>
      </p:sp>
      <p:pic>
        <p:nvPicPr>
          <p:cNvPr id="6" name="Image 0" descr="/home/claude/icons/usergrad_teal.png">    </p:cNvPr>
          <p:cNvPicPr>
            <a:picLocks noChangeAspect="1"/>
          </p:cNvPicPr>
          <p:nvPr/>
        </p:nvPicPr>
        <p:blipFill>
          <a:blip r:embed="rId1"/>
          <a:stretch>
            <a:fillRect/>
          </a:stretch>
        </p:blipFill>
        <p:spPr>
          <a:xfrm>
            <a:off x="713232" y="3227832"/>
            <a:ext cx="310896" cy="310896"/>
          </a:xfrm>
          <a:prstGeom prst="rect">
            <a:avLst/>
          </a:prstGeom>
        </p:spPr>
      </p:pic>
      <p:sp>
        <p:nvSpPr>
          <p:cNvPr id="7" name="Text 4"/>
          <p:cNvSpPr/>
          <p:nvPr/>
        </p:nvSpPr>
        <p:spPr>
          <a:xfrm>
            <a:off x="1371600" y="3008376"/>
            <a:ext cx="1463040" cy="548640"/>
          </a:xfrm>
          <a:prstGeom prst="rect">
            <a:avLst/>
          </a:prstGeom>
          <a:noFill/>
          <a:ln/>
        </p:spPr>
        <p:txBody>
          <a:bodyPr wrap="square" lIns="0" tIns="0" rIns="0" bIns="0" rtlCol="0" anchor="ctr"/>
          <a:lstStyle/>
          <a:p>
            <a:pPr indent="0" marL="0">
              <a:buNone/>
            </a:pPr>
            <a:r>
              <a:rPr lang="en-US" sz="2600" b="1" dirty="0">
                <a:solidFill>
                  <a:srgbClr val="065A82"/>
                </a:solidFill>
                <a:latin typeface="Cambria" pitchFamily="34" charset="0"/>
                <a:ea typeface="Cambria" pitchFamily="34" charset="-122"/>
                <a:cs typeface="Cambria" pitchFamily="34" charset="-120"/>
              </a:rPr>
              <a:t>85%</a:t>
            </a:r>
            <a:endParaRPr lang="en-US" sz="2600" dirty="0"/>
          </a:p>
        </p:txBody>
      </p:sp>
      <p:sp>
        <p:nvSpPr>
          <p:cNvPr id="8" name="Text 5"/>
          <p:cNvSpPr/>
          <p:nvPr/>
        </p:nvSpPr>
        <p:spPr>
          <a:xfrm>
            <a:off x="2880360" y="3008376"/>
            <a:ext cx="2926080" cy="548640"/>
          </a:xfrm>
          <a:prstGeom prst="rect">
            <a:avLst/>
          </a:prstGeom>
          <a:noFill/>
          <a:ln/>
        </p:spPr>
        <p:txBody>
          <a:bodyPr wrap="square" lIns="0" tIns="0" rIns="0" bIns="0" rtlCol="0" anchor="ctr"/>
          <a:lstStyle/>
          <a:p>
            <a:pPr indent="0" marL="0">
              <a:buNone/>
            </a:pPr>
            <a:r>
              <a:rPr lang="en-US" sz="1300" dirty="0">
                <a:solidFill>
                  <a:srgbClr val="44546A"/>
                </a:solidFill>
                <a:latin typeface="Calibri" pitchFamily="34" charset="0"/>
                <a:ea typeface="Calibri" pitchFamily="34" charset="-122"/>
                <a:cs typeface="Calibri" pitchFamily="34" charset="-120"/>
              </a:rPr>
              <a:t>CSE (Specialisation)</a:t>
            </a:r>
            <a:endParaRPr lang="en-US" sz="1300" dirty="0"/>
          </a:p>
        </p:txBody>
      </p:sp>
      <p:sp>
        <p:nvSpPr>
          <p:cNvPr id="9" name="Shape 6"/>
          <p:cNvSpPr/>
          <p:nvPr/>
        </p:nvSpPr>
        <p:spPr>
          <a:xfrm>
            <a:off x="548640" y="4114800"/>
            <a:ext cx="640080" cy="640080"/>
          </a:xfrm>
          <a:prstGeom prst="ellipse">
            <a:avLst/>
          </a:prstGeom>
          <a:solidFill>
            <a:srgbClr val="EAF2F6"/>
          </a:solidFill>
          <a:ln/>
        </p:spPr>
      </p:sp>
      <p:pic>
        <p:nvPicPr>
          <p:cNvPr id="10" name="Image 1" descr="/home/claude/icons/users_teal.png">    </p:cNvPr>
          <p:cNvPicPr>
            <a:picLocks noChangeAspect="1"/>
          </p:cNvPicPr>
          <p:nvPr/>
        </p:nvPicPr>
        <p:blipFill>
          <a:blip r:embed="rId2"/>
          <a:stretch>
            <a:fillRect/>
          </a:stretch>
        </p:blipFill>
        <p:spPr>
          <a:xfrm>
            <a:off x="713232" y="4279392"/>
            <a:ext cx="310896" cy="310896"/>
          </a:xfrm>
          <a:prstGeom prst="rect">
            <a:avLst/>
          </a:prstGeom>
        </p:spPr>
      </p:pic>
      <p:sp>
        <p:nvSpPr>
          <p:cNvPr id="11" name="Text 7"/>
          <p:cNvSpPr/>
          <p:nvPr/>
        </p:nvSpPr>
        <p:spPr>
          <a:xfrm>
            <a:off x="1371600" y="4059936"/>
            <a:ext cx="1463040" cy="548640"/>
          </a:xfrm>
          <a:prstGeom prst="rect">
            <a:avLst/>
          </a:prstGeom>
          <a:noFill/>
          <a:ln/>
        </p:spPr>
        <p:txBody>
          <a:bodyPr wrap="square" lIns="0" tIns="0" rIns="0" bIns="0" rtlCol="0" anchor="ctr"/>
          <a:lstStyle/>
          <a:p>
            <a:pPr indent="0" marL="0">
              <a:buNone/>
            </a:pPr>
            <a:r>
              <a:rPr lang="en-US" sz="2600" b="1" dirty="0">
                <a:solidFill>
                  <a:srgbClr val="065A82"/>
                </a:solidFill>
                <a:latin typeface="Cambria" pitchFamily="34" charset="0"/>
                <a:ea typeface="Cambria" pitchFamily="34" charset="-122"/>
                <a:cs typeface="Cambria" pitchFamily="34" charset="-120"/>
              </a:rPr>
              <a:t>20</a:t>
            </a:r>
            <a:endParaRPr lang="en-US" sz="2600" dirty="0"/>
          </a:p>
        </p:txBody>
      </p:sp>
      <p:sp>
        <p:nvSpPr>
          <p:cNvPr id="12" name="Text 8"/>
          <p:cNvSpPr/>
          <p:nvPr/>
        </p:nvSpPr>
        <p:spPr>
          <a:xfrm>
            <a:off x="2880360" y="4059936"/>
            <a:ext cx="2926080" cy="548640"/>
          </a:xfrm>
          <a:prstGeom prst="rect">
            <a:avLst/>
          </a:prstGeom>
          <a:noFill/>
          <a:ln/>
        </p:spPr>
        <p:txBody>
          <a:bodyPr wrap="square" lIns="0" tIns="0" rIns="0" bIns="0" rtlCol="0" anchor="ctr"/>
          <a:lstStyle/>
          <a:p>
            <a:pPr indent="0" marL="0">
              <a:buNone/>
            </a:pPr>
            <a:r>
              <a:rPr lang="en-US" sz="1300" dirty="0">
                <a:solidFill>
                  <a:srgbClr val="44546A"/>
                </a:solidFill>
                <a:latin typeface="Calibri" pitchFamily="34" charset="0"/>
                <a:ea typeface="Calibri" pitchFamily="34" charset="-122"/>
                <a:cs typeface="Calibri" pitchFamily="34" charset="-120"/>
              </a:rPr>
              <a:t>Total Responses Collected</a:t>
            </a:r>
            <a:endParaRPr lang="en-US" sz="1300" dirty="0"/>
          </a:p>
        </p:txBody>
      </p:sp>
      <p:sp>
        <p:nvSpPr>
          <p:cNvPr id="13" name="Shape 9"/>
          <p:cNvSpPr/>
          <p:nvPr/>
        </p:nvSpPr>
        <p:spPr>
          <a:xfrm>
            <a:off x="548640" y="5166360"/>
            <a:ext cx="640080" cy="640080"/>
          </a:xfrm>
          <a:prstGeom prst="ellipse">
            <a:avLst/>
          </a:prstGeom>
          <a:solidFill>
            <a:srgbClr val="EAF2F6"/>
          </a:solidFill>
          <a:ln/>
        </p:spPr>
      </p:sp>
      <p:pic>
        <p:nvPicPr>
          <p:cNvPr id="14" name="Image 2" descr="/home/claude/icons/bookopen_teal.png">    </p:cNvPr>
          <p:cNvPicPr>
            <a:picLocks noChangeAspect="1"/>
          </p:cNvPicPr>
          <p:nvPr/>
        </p:nvPicPr>
        <p:blipFill>
          <a:blip r:embed="rId3"/>
          <a:stretch>
            <a:fillRect/>
          </a:stretch>
        </p:blipFill>
        <p:spPr>
          <a:xfrm>
            <a:off x="713232" y="5330952"/>
            <a:ext cx="310896" cy="310896"/>
          </a:xfrm>
          <a:prstGeom prst="rect">
            <a:avLst/>
          </a:prstGeom>
        </p:spPr>
      </p:pic>
      <p:sp>
        <p:nvSpPr>
          <p:cNvPr id="15" name="Text 10"/>
          <p:cNvSpPr/>
          <p:nvPr/>
        </p:nvSpPr>
        <p:spPr>
          <a:xfrm>
            <a:off x="1371600" y="5111496"/>
            <a:ext cx="1463040" cy="548640"/>
          </a:xfrm>
          <a:prstGeom prst="rect">
            <a:avLst/>
          </a:prstGeom>
          <a:noFill/>
          <a:ln/>
        </p:spPr>
        <p:txBody>
          <a:bodyPr wrap="square" lIns="0" tIns="0" rIns="0" bIns="0" rtlCol="0" anchor="ctr"/>
          <a:lstStyle/>
          <a:p>
            <a:pPr indent="0" marL="0">
              <a:buNone/>
            </a:pPr>
            <a:r>
              <a:rPr lang="en-US" sz="2600" b="1" dirty="0">
                <a:solidFill>
                  <a:srgbClr val="065A82"/>
                </a:solidFill>
                <a:latin typeface="Cambria" pitchFamily="34" charset="0"/>
                <a:ea typeface="Cambria" pitchFamily="34" charset="-122"/>
                <a:cs typeface="Cambria" pitchFamily="34" charset="-120"/>
              </a:rPr>
              <a:t>15%</a:t>
            </a:r>
            <a:endParaRPr lang="en-US" sz="2600" dirty="0"/>
          </a:p>
        </p:txBody>
      </p:sp>
      <p:sp>
        <p:nvSpPr>
          <p:cNvPr id="16" name="Text 11"/>
          <p:cNvSpPr/>
          <p:nvPr/>
        </p:nvSpPr>
        <p:spPr>
          <a:xfrm>
            <a:off x="2880360" y="5111496"/>
            <a:ext cx="2926080" cy="548640"/>
          </a:xfrm>
          <a:prstGeom prst="rect">
            <a:avLst/>
          </a:prstGeom>
          <a:noFill/>
          <a:ln/>
        </p:spPr>
        <p:txBody>
          <a:bodyPr wrap="square" lIns="0" tIns="0" rIns="0" bIns="0" rtlCol="0" anchor="ctr"/>
          <a:lstStyle/>
          <a:p>
            <a:pPr indent="0" marL="0">
              <a:buNone/>
            </a:pPr>
            <a:r>
              <a:rPr lang="en-US" sz="1300" dirty="0">
                <a:solidFill>
                  <a:srgbClr val="44546A"/>
                </a:solidFill>
                <a:latin typeface="Calibri" pitchFamily="34" charset="0"/>
                <a:ea typeface="Calibri" pitchFamily="34" charset="-122"/>
                <a:cs typeface="Calibri" pitchFamily="34" charset="-120"/>
              </a:rPr>
              <a:t>ECE, Civil &amp; Other Branches</a:t>
            </a:r>
            <a:endParaRPr lang="en-US" sz="1300" dirty="0"/>
          </a:p>
        </p:txBody>
      </p:sp>
      <p:sp>
        <p:nvSpPr>
          <p:cNvPr id="17" name="Text 12"/>
          <p:cNvSpPr/>
          <p:nvPr/>
        </p:nvSpPr>
        <p:spPr>
          <a:xfrm>
            <a:off x="6126480" y="1417320"/>
            <a:ext cx="5486400" cy="36576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Branch Distribution</a:t>
            </a:r>
            <a:endParaRPr lang="en-US" sz="1400" dirty="0"/>
          </a:p>
        </p:txBody>
      </p:sp>
      <p:graphicFrame>
        <p:nvGraphicFramePr>
          <p:cNvPr id="18" name="Chart 0" descr=""/>
          <p:cNvGraphicFramePr/>
          <p:nvPr/>
        </p:nvGraphicFramePr>
        <p:xfrm>
          <a:off x="6126480" y="1783080"/>
          <a:ext cx="5486400" cy="4206240"/>
        </p:xfrm>
        <a:graphic xmlns:a="http://schemas.openxmlformats.org/drawingml/2006/main">
          <a:graphicData uri="http://schemas.openxmlformats.org/drawingml/2006/chart">
            <c:chart xmlns:c="http://schemas.openxmlformats.org/drawingml/2006/chart" r:id="rId4"/>
          </a:graphicData>
        </a:graphic>
      </p:graphicFrame>
      <p:sp>
        <p:nvSpPr>
          <p:cNvPr id="19" name="Text 13"/>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7C8AA5"/>
                </a:solidFill>
                <a:latin typeface="Calibri" pitchFamily="34" charset="0"/>
                <a:ea typeface="Calibri" pitchFamily="34" charset="-122"/>
                <a:cs typeface="Calibri" pitchFamily="34" charset="-120"/>
              </a:rPr>
              <a:t>Study Habits &amp; Academic Performance During Holidays  |  Data Science Mini Project</a:t>
            </a:r>
            <a:endParaRPr lang="en-US" sz="900" dirty="0"/>
          </a:p>
        </p:txBody>
      </p:sp>
      <p:sp>
        <p:nvSpPr>
          <p:cNvPr id="20" name="Text 14"/>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7C8AA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HOLIDAY STUDY PATTERNS</a:t>
            </a:r>
            <a:endParaRPr lang="en-US" sz="13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Daily Study Hours During Holidays</a:t>
            </a:r>
            <a:endParaRPr lang="en-US" sz="3000" dirty="0"/>
          </a:p>
        </p:txBody>
      </p:sp>
      <p:graphicFrame>
        <p:nvGraphicFramePr>
          <p:cNvPr id="4" name="Chart 0" descr=""/>
          <p:cNvGraphicFramePr/>
          <p:nvPr/>
        </p:nvGraphicFramePr>
        <p:xfrm>
          <a:off x="457200" y="1417320"/>
          <a:ext cx="566928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92240" y="1463040"/>
            <a:ext cx="5120640" cy="1417320"/>
          </a:xfrm>
          <a:prstGeom prst="roundRect">
            <a:avLst>
              <a:gd name="adj" fmla="val 5161"/>
            </a:avLst>
          </a:prstGeom>
          <a:solidFill>
            <a:srgbClr val="EAF2F6"/>
          </a:solidFill>
          <a:ln/>
          <a:effectLst>
            <a:outerShdw sx="100000" sy="100000" kx="0" ky="0" algn="bl" rotWithShape="0" blurRad="50800" dist="12700" dir="5400000">
              <a:srgbClr val="000000">
                <a:alpha val="8000"/>
              </a:srgbClr>
            </a:outerShdw>
          </a:effectLst>
        </p:spPr>
      </p:sp>
      <p:sp>
        <p:nvSpPr>
          <p:cNvPr id="6" name="Text 3"/>
          <p:cNvSpPr/>
          <p:nvPr/>
        </p:nvSpPr>
        <p:spPr>
          <a:xfrm>
            <a:off x="6766560" y="1600200"/>
            <a:ext cx="45720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90% of students study 2 hours or less per day</a:t>
            </a:r>
            <a:endParaRPr lang="en-US" sz="1600" dirty="0"/>
          </a:p>
        </p:txBody>
      </p:sp>
      <p:sp>
        <p:nvSpPr>
          <p:cNvPr id="7" name="Text 4"/>
          <p:cNvSpPr/>
          <p:nvPr/>
        </p:nvSpPr>
        <p:spPr>
          <a:xfrm>
            <a:off x="6766560" y="2057400"/>
            <a:ext cx="4572000" cy="777240"/>
          </a:xfrm>
          <a:prstGeom prst="rect">
            <a:avLst/>
          </a:prstGeom>
          <a:noFill/>
          <a:ln/>
        </p:spPr>
        <p:txBody>
          <a:bodyPr wrap="square" lIns="0" tIns="0" rIns="0" bIns="0" rtlCol="0" anchor="ctr"/>
          <a:lstStyle/>
          <a:p>
            <a:pPr indent="0" marL="0">
              <a:lnSpc>
                <a:spcPct val="120000"/>
              </a:lnSpc>
              <a:buNone/>
            </a:pPr>
            <a:r>
              <a:rPr lang="en-US" sz="1250" dirty="0">
                <a:solidFill>
                  <a:srgbClr val="44546A"/>
                </a:solidFill>
                <a:latin typeface="Calibri" pitchFamily="34" charset="0"/>
                <a:ea typeface="Calibri" pitchFamily="34" charset="-122"/>
                <a:cs typeface="Calibri" pitchFamily="34" charset="-120"/>
              </a:rPr>
              <a:t>40% study less than 1 hour daily, and 50% study 1-2 hours. Only a small minority (roughly 1 in 10) push beyond 2 hours of daily study during holiday breaks.</a:t>
            </a:r>
            <a:endParaRPr lang="en-US" sz="1250" dirty="0"/>
          </a:p>
        </p:txBody>
      </p:sp>
      <p:sp>
        <p:nvSpPr>
          <p:cNvPr id="8" name="Shape 5"/>
          <p:cNvSpPr/>
          <p:nvPr/>
        </p:nvSpPr>
        <p:spPr>
          <a:xfrm>
            <a:off x="6492240" y="3063240"/>
            <a:ext cx="5120640" cy="1417320"/>
          </a:xfrm>
          <a:prstGeom prst="roundRect">
            <a:avLst>
              <a:gd name="adj" fmla="val 5161"/>
            </a:avLst>
          </a:prstGeom>
          <a:solidFill>
            <a:srgbClr val="EAF2F6"/>
          </a:solidFill>
          <a:ln/>
          <a:effectLst>
            <a:outerShdw sx="100000" sy="100000" kx="0" ky="0" algn="bl" rotWithShape="0" blurRad="50800" dist="12700" dir="5400000">
              <a:srgbClr val="000000">
                <a:alpha val="8000"/>
              </a:srgbClr>
            </a:outerShdw>
          </a:effectLst>
        </p:spPr>
      </p:sp>
      <p:sp>
        <p:nvSpPr>
          <p:cNvPr id="9" name="Text 6"/>
          <p:cNvSpPr/>
          <p:nvPr/>
        </p:nvSpPr>
        <p:spPr>
          <a:xfrm>
            <a:off x="6766560" y="3200400"/>
            <a:ext cx="45720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Holiday study is light-touch, not intensive</a:t>
            </a:r>
            <a:endParaRPr lang="en-US" sz="1600" dirty="0"/>
          </a:p>
        </p:txBody>
      </p:sp>
      <p:sp>
        <p:nvSpPr>
          <p:cNvPr id="10" name="Text 7"/>
          <p:cNvSpPr/>
          <p:nvPr/>
        </p:nvSpPr>
        <p:spPr>
          <a:xfrm>
            <a:off x="6766560" y="3657600"/>
            <a:ext cx="4572000" cy="777240"/>
          </a:xfrm>
          <a:prstGeom prst="rect">
            <a:avLst/>
          </a:prstGeom>
          <a:noFill/>
          <a:ln/>
        </p:spPr>
        <p:txBody>
          <a:bodyPr wrap="square" lIns="0" tIns="0" rIns="0" bIns="0" rtlCol="0" anchor="ctr"/>
          <a:lstStyle/>
          <a:p>
            <a:pPr indent="0" marL="0">
              <a:lnSpc>
                <a:spcPct val="120000"/>
              </a:lnSpc>
              <a:buNone/>
            </a:pPr>
            <a:r>
              <a:rPr lang="en-US" sz="1250" dirty="0">
                <a:solidFill>
                  <a:srgbClr val="44546A"/>
                </a:solidFill>
                <a:latin typeface="Calibri" pitchFamily="34" charset="0"/>
                <a:ea typeface="Calibri" pitchFamily="34" charset="-122"/>
                <a:cs typeface="Calibri" pitchFamily="34" charset="-120"/>
              </a:rPr>
              <a:t>Very few students (about 10%) treat holidays as a period for extended (2-4 hours or more) daily study, suggesting holidays are largely viewed as a break from intensive academics.</a:t>
            </a:r>
            <a:endParaRPr lang="en-US" sz="1250" dirty="0"/>
          </a:p>
        </p:txBody>
      </p:sp>
      <p:sp>
        <p:nvSpPr>
          <p:cNvPr id="11" name="Shape 8"/>
          <p:cNvSpPr/>
          <p:nvPr/>
        </p:nvSpPr>
        <p:spPr>
          <a:xfrm>
            <a:off x="6492240" y="4663440"/>
            <a:ext cx="5120640" cy="1234440"/>
          </a:xfrm>
          <a:prstGeom prst="roundRect">
            <a:avLst>
              <a:gd name="adj" fmla="val 5926"/>
            </a:avLst>
          </a:prstGeom>
          <a:solidFill>
            <a:srgbClr val="EAF2F6"/>
          </a:solidFill>
          <a:ln/>
          <a:effectLst>
            <a:outerShdw sx="100000" sy="100000" kx="0" ky="0" algn="bl" rotWithShape="0" blurRad="50800" dist="12700" dir="5400000">
              <a:srgbClr val="000000">
                <a:alpha val="8000"/>
              </a:srgbClr>
            </a:outerShdw>
          </a:effectLst>
        </p:spPr>
      </p:sp>
      <p:sp>
        <p:nvSpPr>
          <p:cNvPr id="12" name="Text 9"/>
          <p:cNvSpPr/>
          <p:nvPr/>
        </p:nvSpPr>
        <p:spPr>
          <a:xfrm>
            <a:off x="6766560" y="4800600"/>
            <a:ext cx="45720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Implication</a:t>
            </a:r>
            <a:endParaRPr lang="en-US" sz="1600" dirty="0"/>
          </a:p>
        </p:txBody>
      </p:sp>
      <p:sp>
        <p:nvSpPr>
          <p:cNvPr id="13" name="Text 10"/>
          <p:cNvSpPr/>
          <p:nvPr/>
        </p:nvSpPr>
        <p:spPr>
          <a:xfrm>
            <a:off x="6766560" y="5166360"/>
            <a:ext cx="4572000" cy="640080"/>
          </a:xfrm>
          <a:prstGeom prst="rect">
            <a:avLst/>
          </a:prstGeom>
          <a:noFill/>
          <a:ln/>
        </p:spPr>
        <p:txBody>
          <a:bodyPr wrap="square" lIns="0" tIns="0" rIns="0" bIns="0" rtlCol="0" anchor="ctr"/>
          <a:lstStyle/>
          <a:p>
            <a:pPr indent="0" marL="0">
              <a:lnSpc>
                <a:spcPct val="120000"/>
              </a:lnSpc>
              <a:buNone/>
            </a:pPr>
            <a:r>
              <a:rPr lang="en-US" sz="1250" dirty="0">
                <a:solidFill>
                  <a:srgbClr val="44546A"/>
                </a:solidFill>
                <a:latin typeface="Calibri" pitchFamily="34" charset="0"/>
                <a:ea typeface="Calibri" pitchFamily="34" charset="-122"/>
                <a:cs typeface="Calibri" pitchFamily="34" charset="-120"/>
              </a:rPr>
              <a:t>Even small, consistent gains in holiday study time (e.g., moving from "less than 1 hour" to "1-2 hours") could shift the bulk of the cohort toward more productive routines.</a:t>
            </a:r>
            <a:endParaRPr lang="en-US" sz="1250" dirty="0"/>
          </a:p>
        </p:txBody>
      </p:sp>
      <p:sp>
        <p:nvSpPr>
          <p:cNvPr id="14" name="Text 11"/>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7C8AA5"/>
                </a:solidFill>
                <a:latin typeface="Calibri" pitchFamily="34" charset="0"/>
                <a:ea typeface="Calibri" pitchFamily="34" charset="-122"/>
                <a:cs typeface="Calibri" pitchFamily="34" charset="-120"/>
              </a:rPr>
              <a:t>Study Habits &amp; Academic Performance During Holidays  |  Data Science Mini Project</a:t>
            </a:r>
            <a:endParaRPr lang="en-US" sz="900" dirty="0"/>
          </a:p>
        </p:txBody>
      </p:sp>
      <p:sp>
        <p:nvSpPr>
          <p:cNvPr id="15" name="Text 12"/>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7C8AA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ACADEMIC PERFORMANCE SNAPSHOT</a:t>
            </a:r>
            <a:endParaRPr lang="en-US" sz="13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Current CGPA Distribution</a:t>
            </a:r>
            <a:endParaRPr lang="en-US" sz="3000" dirty="0"/>
          </a:p>
        </p:txBody>
      </p:sp>
      <p:graphicFrame>
        <p:nvGraphicFramePr>
          <p:cNvPr id="4" name="Chart 0" descr=""/>
          <p:cNvGraphicFramePr/>
          <p:nvPr/>
        </p:nvGraphicFramePr>
        <p:xfrm>
          <a:off x="548640" y="1463040"/>
          <a:ext cx="731520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29600" y="1463040"/>
            <a:ext cx="3383280" cy="2148840"/>
          </a:xfrm>
          <a:prstGeom prst="roundRect">
            <a:avLst>
              <a:gd name="adj" fmla="val 3404"/>
            </a:avLst>
          </a:prstGeom>
          <a:solidFill>
            <a:srgbClr val="EAF2F6"/>
          </a:solidFill>
          <a:ln/>
          <a:effectLst>
            <a:outerShdw sx="100000" sy="100000" kx="0" ky="0" algn="bl" rotWithShape="0" blurRad="50800" dist="12700" dir="5400000">
              <a:srgbClr val="000000">
                <a:alpha val="8000"/>
              </a:srgbClr>
            </a:outerShdw>
          </a:effectLst>
        </p:spPr>
      </p:sp>
      <p:pic>
        <p:nvPicPr>
          <p:cNvPr id="6" name="Image 0" descr="/home/claude/icons/chartline_teal.png">    </p:cNvPr>
          <p:cNvPicPr>
            <a:picLocks noChangeAspect="1"/>
          </p:cNvPicPr>
          <p:nvPr/>
        </p:nvPicPr>
        <p:blipFill>
          <a:blip r:embed="rId2"/>
          <a:stretch>
            <a:fillRect/>
          </a:stretch>
        </p:blipFill>
        <p:spPr>
          <a:xfrm>
            <a:off x="8458200" y="1645920"/>
            <a:ext cx="365760" cy="365760"/>
          </a:xfrm>
          <a:prstGeom prst="rect">
            <a:avLst/>
          </a:prstGeom>
        </p:spPr>
      </p:pic>
      <p:sp>
        <p:nvSpPr>
          <p:cNvPr id="7" name="Text 3"/>
          <p:cNvSpPr/>
          <p:nvPr/>
        </p:nvSpPr>
        <p:spPr>
          <a:xfrm>
            <a:off x="8458200" y="2103120"/>
            <a:ext cx="3017520" cy="41148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Wide Spread, CGPA 6 to 9.55</a:t>
            </a:r>
            <a:endParaRPr lang="en-US" sz="1400" dirty="0"/>
          </a:p>
        </p:txBody>
      </p:sp>
      <p:sp>
        <p:nvSpPr>
          <p:cNvPr id="8" name="Text 4"/>
          <p:cNvSpPr/>
          <p:nvPr/>
        </p:nvSpPr>
        <p:spPr>
          <a:xfrm>
            <a:off x="8458200" y="2560320"/>
            <a:ext cx="3017520" cy="960120"/>
          </a:xfrm>
          <a:prstGeom prst="rect">
            <a:avLst/>
          </a:prstGeom>
          <a:noFill/>
          <a:ln/>
        </p:spPr>
        <p:txBody>
          <a:bodyPr wrap="square" lIns="0" tIns="0" rIns="0" bIns="0" rtlCol="0" anchor="ctr"/>
          <a:lstStyle/>
          <a:p>
            <a:pPr indent="0" marL="0">
              <a:lnSpc>
                <a:spcPct val="120000"/>
              </a:lnSpc>
              <a:buNone/>
            </a:pPr>
            <a:r>
              <a:rPr lang="en-US" sz="1200" dirty="0">
                <a:solidFill>
                  <a:srgbClr val="44546A"/>
                </a:solidFill>
                <a:latin typeface="Calibri" pitchFamily="34" charset="0"/>
                <a:ea typeface="Calibri" pitchFamily="34" charset="-122"/>
                <a:cs typeface="Calibri" pitchFamily="34" charset="-120"/>
              </a:rPr>
              <a:t>CGPA values range from 6.0 to 9.55 across the 19 students who reported, indicating a highly diverse academic standing within the same cohort.</a:t>
            </a:r>
            <a:endParaRPr lang="en-US" sz="1200" dirty="0"/>
          </a:p>
        </p:txBody>
      </p:sp>
      <p:sp>
        <p:nvSpPr>
          <p:cNvPr id="9" name="Shape 5"/>
          <p:cNvSpPr/>
          <p:nvPr/>
        </p:nvSpPr>
        <p:spPr>
          <a:xfrm>
            <a:off x="8229600" y="3749040"/>
            <a:ext cx="3383280" cy="2148840"/>
          </a:xfrm>
          <a:prstGeom prst="roundRect">
            <a:avLst>
              <a:gd name="adj" fmla="val 3404"/>
            </a:avLst>
          </a:prstGeom>
          <a:solidFill>
            <a:srgbClr val="EAF2F6"/>
          </a:solidFill>
          <a:ln/>
          <a:effectLst>
            <a:outerShdw sx="100000" sy="100000" kx="0" ky="0" algn="bl" rotWithShape="0" blurRad="50800" dist="12700" dir="5400000">
              <a:srgbClr val="000000">
                <a:alpha val="8000"/>
              </a:srgbClr>
            </a:outerShdw>
          </a:effectLst>
        </p:spPr>
      </p:sp>
      <p:pic>
        <p:nvPicPr>
          <p:cNvPr id="10" name="Image 1" descr="/home/claude/icons/percentage_teal.png">    </p:cNvPr>
          <p:cNvPicPr>
            <a:picLocks noChangeAspect="1"/>
          </p:cNvPicPr>
          <p:nvPr/>
        </p:nvPicPr>
        <p:blipFill>
          <a:blip r:embed="rId3"/>
          <a:stretch>
            <a:fillRect/>
          </a:stretch>
        </p:blipFill>
        <p:spPr>
          <a:xfrm>
            <a:off x="8458200" y="3931920"/>
            <a:ext cx="365760" cy="365760"/>
          </a:xfrm>
          <a:prstGeom prst="rect">
            <a:avLst/>
          </a:prstGeom>
        </p:spPr>
      </p:pic>
      <p:sp>
        <p:nvSpPr>
          <p:cNvPr id="11" name="Text 6"/>
          <p:cNvSpPr/>
          <p:nvPr/>
        </p:nvSpPr>
        <p:spPr>
          <a:xfrm>
            <a:off x="8458200" y="4389120"/>
            <a:ext cx="3017520" cy="41148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CGPA 7.0 is the Most Common</a:t>
            </a:r>
            <a:endParaRPr lang="en-US" sz="1400" dirty="0"/>
          </a:p>
        </p:txBody>
      </p:sp>
      <p:sp>
        <p:nvSpPr>
          <p:cNvPr id="12" name="Text 7"/>
          <p:cNvSpPr/>
          <p:nvPr/>
        </p:nvSpPr>
        <p:spPr>
          <a:xfrm>
            <a:off x="8458200" y="4846320"/>
            <a:ext cx="3017520" cy="1005840"/>
          </a:xfrm>
          <a:prstGeom prst="rect">
            <a:avLst/>
          </a:prstGeom>
          <a:noFill/>
          <a:ln/>
        </p:spPr>
        <p:txBody>
          <a:bodyPr wrap="square" lIns="0" tIns="0" rIns="0" bIns="0" rtlCol="0" anchor="ctr"/>
          <a:lstStyle/>
          <a:p>
            <a:pPr indent="0" marL="0">
              <a:lnSpc>
                <a:spcPct val="120000"/>
              </a:lnSpc>
              <a:buNone/>
            </a:pPr>
            <a:r>
              <a:rPr lang="en-US" sz="1200" dirty="0">
                <a:solidFill>
                  <a:srgbClr val="44546A"/>
                </a:solidFill>
                <a:latin typeface="Calibri" pitchFamily="34" charset="0"/>
                <a:ea typeface="Calibri" pitchFamily="34" charset="-122"/>
                <a:cs typeface="Calibri" pitchFamily="34" charset="-120"/>
              </a:rPr>
              <a:t>The most frequent value is 7.0 (15.8% of students), followed by 8.2 (10.5%). The remaining values are each held by a single student, reflecting an otherwise evenly spread distribution.</a:t>
            </a:r>
            <a:endParaRPr lang="en-US" sz="1200" dirty="0"/>
          </a:p>
        </p:txBody>
      </p:sp>
      <p:sp>
        <p:nvSpPr>
          <p:cNvPr id="13" name="Text 8"/>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7C8AA5"/>
                </a:solidFill>
                <a:latin typeface="Calibri" pitchFamily="34" charset="0"/>
                <a:ea typeface="Calibri" pitchFamily="34" charset="-122"/>
                <a:cs typeface="Calibri" pitchFamily="34" charset="-120"/>
              </a:rPr>
              <a:t>Study Habits &amp; Academic Performance During Holidays  |  Data Science Mini Project</a:t>
            </a:r>
            <a:endParaRPr lang="en-US" sz="900" dirty="0"/>
          </a:p>
        </p:txBody>
      </p:sp>
      <p:sp>
        <p:nvSpPr>
          <p:cNvPr id="14" name="Text 9"/>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7C8AA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HOLIDAYS &amp; ATTENDANCE</a:t>
            </a:r>
            <a:endParaRPr lang="en-US" sz="13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Perceived Impact on Academic Performance</a:t>
            </a:r>
            <a:endParaRPr lang="en-US" sz="3000" dirty="0"/>
          </a:p>
        </p:txBody>
      </p:sp>
      <p:sp>
        <p:nvSpPr>
          <p:cNvPr id="4" name="Text 2"/>
          <p:cNvSpPr/>
          <p:nvPr/>
        </p:nvSpPr>
        <p:spPr>
          <a:xfrm>
            <a:off x="548640" y="1417320"/>
            <a:ext cx="5486400" cy="45720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Do holidays help improve academic performance?</a:t>
            </a:r>
            <a:endParaRPr lang="en-US" sz="1400" dirty="0"/>
          </a:p>
        </p:txBody>
      </p:sp>
      <p:graphicFrame>
        <p:nvGraphicFramePr>
          <p:cNvPr id="5" name="Chart 0" descr=""/>
          <p:cNvGraphicFramePr/>
          <p:nvPr/>
        </p:nvGraphicFramePr>
        <p:xfrm>
          <a:off x="548640" y="1828800"/>
          <a:ext cx="5394960" cy="4114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263640" y="1417320"/>
            <a:ext cx="5486400" cy="45720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Does attendance affect academic performance?</a:t>
            </a:r>
            <a:endParaRPr lang="en-US" sz="1400" dirty="0"/>
          </a:p>
        </p:txBody>
      </p:sp>
      <p:graphicFrame>
        <p:nvGraphicFramePr>
          <p:cNvPr id="7" name="Chart 1" descr=""/>
          <p:cNvGraphicFramePr/>
          <p:nvPr/>
        </p:nvGraphicFramePr>
        <p:xfrm>
          <a:off x="6263640" y="1828800"/>
          <a:ext cx="5394960" cy="411480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7C8AA5"/>
                </a:solidFill>
                <a:latin typeface="Calibri" pitchFamily="34" charset="0"/>
                <a:ea typeface="Calibri" pitchFamily="34" charset="-122"/>
                <a:cs typeface="Calibri" pitchFamily="34" charset="-120"/>
              </a:rPr>
              <a:t>Study Habits &amp; Academic Performance During Holidays  |  Data Science Mini Project</a:t>
            </a:r>
            <a:endParaRPr lang="en-US" sz="900" dirty="0"/>
          </a:p>
        </p:txBody>
      </p:sp>
      <p:sp>
        <p:nvSpPr>
          <p:cNvPr id="9" name="Text 5"/>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7C8AA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HOLIDAY ACTIVITY BREAKDOWN</a:t>
            </a:r>
            <a:endParaRPr lang="en-US" sz="13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How Students Spend Their Holidays</a:t>
            </a:r>
            <a:endParaRPr lang="en-US" sz="3000" dirty="0"/>
          </a:p>
        </p:txBody>
      </p:sp>
      <p:graphicFrame>
        <p:nvGraphicFramePr>
          <p:cNvPr id="4" name="Chart 0" descr=""/>
          <p:cNvGraphicFramePr/>
          <p:nvPr/>
        </p:nvGraphicFramePr>
        <p:xfrm>
          <a:off x="457200" y="1417320"/>
          <a:ext cx="585216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583680" y="1463040"/>
            <a:ext cx="5029200" cy="1508760"/>
          </a:xfrm>
          <a:prstGeom prst="roundRect">
            <a:avLst>
              <a:gd name="adj" fmla="val 4848"/>
            </a:avLst>
          </a:prstGeom>
          <a:solidFill>
            <a:srgbClr val="EAF2F6"/>
          </a:solidFill>
          <a:ln/>
          <a:effectLst>
            <a:outerShdw sx="100000" sy="100000" kx="0" ky="0" algn="bl" rotWithShape="0" blurRad="50800" dist="12700" dir="5400000">
              <a:srgbClr val="000000">
                <a:alpha val="8000"/>
              </a:srgbClr>
            </a:outerShdw>
          </a:effectLst>
        </p:spPr>
      </p:sp>
      <p:pic>
        <p:nvPicPr>
          <p:cNvPr id="6" name="Image 0" descr="/home/claude/icons/umbrella_teal.png">    </p:cNvPr>
          <p:cNvPicPr>
            <a:picLocks noChangeAspect="1"/>
          </p:cNvPicPr>
          <p:nvPr/>
        </p:nvPicPr>
        <p:blipFill>
          <a:blip r:embed="rId2"/>
          <a:stretch>
            <a:fillRect/>
          </a:stretch>
        </p:blipFill>
        <p:spPr>
          <a:xfrm>
            <a:off x="6812280" y="1691640"/>
            <a:ext cx="365760" cy="365760"/>
          </a:xfrm>
          <a:prstGeom prst="rect">
            <a:avLst/>
          </a:prstGeom>
        </p:spPr>
      </p:pic>
      <p:sp>
        <p:nvSpPr>
          <p:cNvPr id="7" name="Text 3"/>
          <p:cNvSpPr/>
          <p:nvPr/>
        </p:nvSpPr>
        <p:spPr>
          <a:xfrm>
            <a:off x="7315200" y="1627632"/>
            <a:ext cx="4114800" cy="41148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Family Time Dominates (40%)</a:t>
            </a:r>
            <a:endParaRPr lang="en-US" sz="1500" dirty="0"/>
          </a:p>
        </p:txBody>
      </p:sp>
      <p:sp>
        <p:nvSpPr>
          <p:cNvPr id="8" name="Text 4"/>
          <p:cNvSpPr/>
          <p:nvPr/>
        </p:nvSpPr>
        <p:spPr>
          <a:xfrm>
            <a:off x="6812280" y="2148840"/>
            <a:ext cx="4572000" cy="731520"/>
          </a:xfrm>
          <a:prstGeom prst="rect">
            <a:avLst/>
          </a:prstGeom>
          <a:noFill/>
          <a:ln/>
        </p:spPr>
        <p:txBody>
          <a:bodyPr wrap="square" lIns="0" tIns="0" rIns="0" bIns="0" rtlCol="0" anchor="ctr"/>
          <a:lstStyle/>
          <a:p>
            <a:pPr indent="0" marL="0">
              <a:lnSpc>
                <a:spcPct val="120000"/>
              </a:lnSpc>
              <a:buNone/>
            </a:pPr>
            <a:r>
              <a:rPr lang="en-US" sz="1250" dirty="0">
                <a:solidFill>
                  <a:srgbClr val="44546A"/>
                </a:solidFill>
                <a:latin typeface="Calibri" pitchFamily="34" charset="0"/>
                <a:ea typeface="Calibri" pitchFamily="34" charset="-122"/>
                <a:cs typeface="Calibri" pitchFamily="34" charset="-120"/>
              </a:rPr>
              <a:t>Spending time with family is the single largest use of holiday time, far ahead of any other activity.</a:t>
            </a:r>
            <a:endParaRPr lang="en-US" sz="1250" dirty="0"/>
          </a:p>
        </p:txBody>
      </p:sp>
      <p:sp>
        <p:nvSpPr>
          <p:cNvPr id="9" name="Shape 5"/>
          <p:cNvSpPr/>
          <p:nvPr/>
        </p:nvSpPr>
        <p:spPr>
          <a:xfrm>
            <a:off x="6583680" y="3154680"/>
            <a:ext cx="5029200" cy="1508760"/>
          </a:xfrm>
          <a:prstGeom prst="roundRect">
            <a:avLst>
              <a:gd name="adj" fmla="val 4848"/>
            </a:avLst>
          </a:prstGeom>
          <a:solidFill>
            <a:srgbClr val="EAF2F6"/>
          </a:solidFill>
          <a:ln/>
          <a:effectLst>
            <a:outerShdw sx="100000" sy="100000" kx="0" ky="0" algn="bl" rotWithShape="0" blurRad="50800" dist="12700" dir="5400000">
              <a:srgbClr val="000000">
                <a:alpha val="8000"/>
              </a:srgbClr>
            </a:outerShdw>
          </a:effectLst>
        </p:spPr>
      </p:sp>
      <p:pic>
        <p:nvPicPr>
          <p:cNvPr id="10" name="Image 1" descr="/home/claude/icons/calendarcheck_teal.png">    </p:cNvPr>
          <p:cNvPicPr>
            <a:picLocks noChangeAspect="1"/>
          </p:cNvPicPr>
          <p:nvPr/>
        </p:nvPicPr>
        <p:blipFill>
          <a:blip r:embed="rId3"/>
          <a:stretch>
            <a:fillRect/>
          </a:stretch>
        </p:blipFill>
        <p:spPr>
          <a:xfrm>
            <a:off x="6812280" y="3383280"/>
            <a:ext cx="365760" cy="365760"/>
          </a:xfrm>
          <a:prstGeom prst="rect">
            <a:avLst/>
          </a:prstGeom>
        </p:spPr>
      </p:pic>
      <p:sp>
        <p:nvSpPr>
          <p:cNvPr id="11" name="Text 6"/>
          <p:cNvSpPr/>
          <p:nvPr/>
        </p:nvSpPr>
        <p:spPr>
          <a:xfrm>
            <a:off x="7315200" y="3319272"/>
            <a:ext cx="4114800" cy="41148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Travel &amp; Other Activities (40% combined)</a:t>
            </a:r>
            <a:endParaRPr lang="en-US" sz="1500" dirty="0"/>
          </a:p>
        </p:txBody>
      </p:sp>
      <p:sp>
        <p:nvSpPr>
          <p:cNvPr id="12" name="Text 7"/>
          <p:cNvSpPr/>
          <p:nvPr/>
        </p:nvSpPr>
        <p:spPr>
          <a:xfrm>
            <a:off x="6812280" y="3840480"/>
            <a:ext cx="4572000" cy="731520"/>
          </a:xfrm>
          <a:prstGeom prst="rect">
            <a:avLst/>
          </a:prstGeom>
          <a:noFill/>
          <a:ln/>
        </p:spPr>
        <p:txBody>
          <a:bodyPr wrap="square" lIns="0" tIns="0" rIns="0" bIns="0" rtlCol="0" anchor="ctr"/>
          <a:lstStyle/>
          <a:p>
            <a:pPr indent="0" marL="0">
              <a:lnSpc>
                <a:spcPct val="120000"/>
              </a:lnSpc>
              <a:buNone/>
            </a:pPr>
            <a:r>
              <a:rPr lang="en-US" sz="1250" dirty="0">
                <a:solidFill>
                  <a:srgbClr val="44546A"/>
                </a:solidFill>
                <a:latin typeface="Calibri" pitchFamily="34" charset="0"/>
                <a:ea typeface="Calibri" pitchFamily="34" charset="-122"/>
                <a:cs typeface="Calibri" pitchFamily="34" charset="-120"/>
              </a:rPr>
              <a:t>20% travel and 20% report other activities, alongside 15% watching movies/series and 5% learning new skills.</a:t>
            </a:r>
            <a:endParaRPr lang="en-US" sz="1250" dirty="0"/>
          </a:p>
        </p:txBody>
      </p:sp>
      <p:sp>
        <p:nvSpPr>
          <p:cNvPr id="13" name="Shape 8"/>
          <p:cNvSpPr/>
          <p:nvPr/>
        </p:nvSpPr>
        <p:spPr>
          <a:xfrm>
            <a:off x="6583680" y="4846320"/>
            <a:ext cx="5029200" cy="1051560"/>
          </a:xfrm>
          <a:prstGeom prst="roundRect">
            <a:avLst>
              <a:gd name="adj" fmla="val 6957"/>
            </a:avLst>
          </a:prstGeom>
          <a:solidFill>
            <a:srgbClr val="EAF2F6"/>
          </a:solidFill>
          <a:ln/>
          <a:effectLst>
            <a:outerShdw sx="100000" sy="100000" kx="0" ky="0" algn="bl" rotWithShape="0" blurRad="50800" dist="12700" dir="5400000">
              <a:srgbClr val="000000">
                <a:alpha val="8000"/>
              </a:srgbClr>
            </a:outerShdw>
          </a:effectLst>
        </p:spPr>
      </p:sp>
      <p:pic>
        <p:nvPicPr>
          <p:cNvPr id="14" name="Image 2" descr="/home/claude/icons/bookopen_teal.png">    </p:cNvPr>
          <p:cNvPicPr>
            <a:picLocks noChangeAspect="1"/>
          </p:cNvPicPr>
          <p:nvPr/>
        </p:nvPicPr>
        <p:blipFill>
          <a:blip r:embed="rId4"/>
          <a:stretch>
            <a:fillRect/>
          </a:stretch>
        </p:blipFill>
        <p:spPr>
          <a:xfrm>
            <a:off x="6812280" y="5029200"/>
            <a:ext cx="365760" cy="365760"/>
          </a:xfrm>
          <a:prstGeom prst="rect">
            <a:avLst/>
          </a:prstGeom>
        </p:spPr>
      </p:pic>
      <p:sp>
        <p:nvSpPr>
          <p:cNvPr id="15" name="Text 9"/>
          <p:cNvSpPr/>
          <p:nvPr/>
        </p:nvSpPr>
        <p:spPr>
          <a:xfrm>
            <a:off x="7315200" y="5010912"/>
            <a:ext cx="4114800" cy="685800"/>
          </a:xfrm>
          <a:prstGeom prst="rect">
            <a:avLst/>
          </a:prstGeom>
          <a:noFill/>
          <a:ln/>
        </p:spPr>
        <p:txBody>
          <a:bodyPr wrap="square" lIns="0" tIns="0" rIns="0" bIns="0" rtlCol="0" anchor="ctr"/>
          <a:lstStyle/>
          <a:p>
            <a:pPr indent="0" marL="0">
              <a:lnSpc>
                <a:spcPct val="110000"/>
              </a:lnSpc>
              <a:buNone/>
            </a:pPr>
            <a:r>
              <a:rPr lang="en-US" sz="1300" b="1" dirty="0">
                <a:solidFill>
                  <a:srgbClr val="21295C"/>
                </a:solidFill>
                <a:latin typeface="Calibri" pitchFamily="34" charset="0"/>
                <a:ea typeface="Calibri" pitchFamily="34" charset="-122"/>
                <a:cs typeface="Calibri" pitchFamily="34" charset="-120"/>
              </a:rPr>
              <a:t>Dedicated 'Studying' Was Not Selected as Primary Use</a:t>
            </a:r>
            <a:endParaRPr lang="en-US" sz="1300" dirty="0"/>
          </a:p>
        </p:txBody>
      </p:sp>
      <p:sp>
        <p:nvSpPr>
          <p:cNvPr id="16" name="Text 10"/>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7C8AA5"/>
                </a:solidFill>
                <a:latin typeface="Calibri" pitchFamily="34" charset="0"/>
                <a:ea typeface="Calibri" pitchFamily="34" charset="-122"/>
                <a:cs typeface="Calibri" pitchFamily="34" charset="-120"/>
              </a:rPr>
              <a:t>Study Habits &amp; Academic Performance During Holidays  |  Data Science Mini Project</a:t>
            </a:r>
            <a:endParaRPr lang="en-US" sz="900" dirty="0"/>
          </a:p>
        </p:txBody>
      </p:sp>
      <p:sp>
        <p:nvSpPr>
          <p:cNvPr id="17" name="Text 11"/>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7C8AA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STUDY DISCIPLINE</a:t>
            </a:r>
            <a:endParaRPr lang="en-US" sz="13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Routine Discipline &amp; Past Academic Standing</a:t>
            </a:r>
            <a:endParaRPr lang="en-US" sz="3000" dirty="0"/>
          </a:p>
        </p:txBody>
      </p:sp>
      <p:sp>
        <p:nvSpPr>
          <p:cNvPr id="4" name="Text 2"/>
          <p:cNvSpPr/>
          <p:nvPr/>
        </p:nvSpPr>
        <p:spPr>
          <a:xfrm>
            <a:off x="548640" y="1417320"/>
            <a:ext cx="5486400" cy="45720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Do you follow a time table?</a:t>
            </a:r>
            <a:endParaRPr lang="en-US" sz="1400" dirty="0"/>
          </a:p>
        </p:txBody>
      </p:sp>
      <p:graphicFrame>
        <p:nvGraphicFramePr>
          <p:cNvPr id="5" name="Chart 0" descr=""/>
          <p:cNvGraphicFramePr/>
          <p:nvPr/>
        </p:nvGraphicFramePr>
        <p:xfrm>
          <a:off x="548640" y="1828800"/>
          <a:ext cx="5394960" cy="4114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263640" y="1417320"/>
            <a:ext cx="5486400" cy="45720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Percentage maintained in previous class</a:t>
            </a:r>
            <a:endParaRPr lang="en-US" sz="1400" dirty="0"/>
          </a:p>
        </p:txBody>
      </p:sp>
      <p:graphicFrame>
        <p:nvGraphicFramePr>
          <p:cNvPr id="7" name="Chart 1" descr=""/>
          <p:cNvGraphicFramePr/>
          <p:nvPr/>
        </p:nvGraphicFramePr>
        <p:xfrm>
          <a:off x="6263640" y="1828800"/>
          <a:ext cx="5394960" cy="411480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7C8AA5"/>
                </a:solidFill>
                <a:latin typeface="Calibri" pitchFamily="34" charset="0"/>
                <a:ea typeface="Calibri" pitchFamily="34" charset="-122"/>
                <a:cs typeface="Calibri" pitchFamily="34" charset="-120"/>
              </a:rPr>
              <a:t>Study Habits &amp; Academic Performance During Holidays  |  Data Science Mini Project</a:t>
            </a:r>
            <a:endParaRPr lang="en-US" sz="900" dirty="0"/>
          </a:p>
        </p:txBody>
      </p:sp>
      <p:sp>
        <p:nvSpPr>
          <p:cNvPr id="9" name="Text 5"/>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7C8AA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TECHNOLOGY &amp; OBSTACLES</a:t>
            </a:r>
            <a:endParaRPr lang="en-US" sz="13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AI Tool Usage &amp; Biggest Study Challenges</a:t>
            </a:r>
            <a:endParaRPr lang="en-US" sz="3000" dirty="0"/>
          </a:p>
        </p:txBody>
      </p:sp>
      <p:sp>
        <p:nvSpPr>
          <p:cNvPr id="4" name="Text 2"/>
          <p:cNvSpPr/>
          <p:nvPr/>
        </p:nvSpPr>
        <p:spPr>
          <a:xfrm>
            <a:off x="548640" y="1417320"/>
            <a:ext cx="5486400" cy="45720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Do you use AI tools (ChatGPT, Gemini, etc.) for learning?</a:t>
            </a:r>
            <a:endParaRPr lang="en-US" sz="1400" dirty="0"/>
          </a:p>
        </p:txBody>
      </p:sp>
      <p:graphicFrame>
        <p:nvGraphicFramePr>
          <p:cNvPr id="5" name="Chart 0" descr=""/>
          <p:cNvGraphicFramePr/>
          <p:nvPr/>
        </p:nvGraphicFramePr>
        <p:xfrm>
          <a:off x="548640" y="1828800"/>
          <a:ext cx="5394960" cy="4114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263640" y="1417320"/>
            <a:ext cx="5486400" cy="45720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What is your biggest challenge in studies?</a:t>
            </a:r>
            <a:endParaRPr lang="en-US" sz="1400" dirty="0"/>
          </a:p>
        </p:txBody>
      </p:sp>
      <p:graphicFrame>
        <p:nvGraphicFramePr>
          <p:cNvPr id="7" name="Chart 1" descr=""/>
          <p:cNvGraphicFramePr/>
          <p:nvPr/>
        </p:nvGraphicFramePr>
        <p:xfrm>
          <a:off x="6263640" y="1828800"/>
          <a:ext cx="5394960" cy="411480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7C8AA5"/>
                </a:solidFill>
                <a:latin typeface="Calibri" pitchFamily="34" charset="0"/>
                <a:ea typeface="Calibri" pitchFamily="34" charset="-122"/>
                <a:cs typeface="Calibri" pitchFamily="34" charset="-120"/>
              </a:rPr>
              <a:t>Study Habits &amp; Academic Performance During Holidays  |  Data Science Mini Project</a:t>
            </a:r>
            <a:endParaRPr lang="en-US" sz="900" dirty="0"/>
          </a:p>
        </p:txBody>
      </p:sp>
      <p:sp>
        <p:nvSpPr>
          <p:cNvPr id="9" name="Text 5"/>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7C8AA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065A82">
              <a:alpha val="45000"/>
            </a:srgbClr>
          </a:solidFill>
          <a:ln/>
        </p:spPr>
      </p:sp>
      <p:sp>
        <p:nvSpPr>
          <p:cNvPr id="3" name="Shape 1"/>
          <p:cNvSpPr/>
          <p:nvPr/>
        </p:nvSpPr>
        <p:spPr>
          <a:xfrm>
            <a:off x="-1280160" y="4754880"/>
            <a:ext cx="3108960" cy="3108960"/>
          </a:xfrm>
          <a:prstGeom prst="ellipse">
            <a:avLst/>
          </a:prstGeom>
          <a:solidFill>
            <a:srgbClr val="1C7293">
              <a:alpha val="40000"/>
            </a:srgbClr>
          </a:solidFill>
          <a:ln/>
        </p:spPr>
      </p:sp>
      <p:sp>
        <p:nvSpPr>
          <p:cNvPr id="4" name="Text 2"/>
          <p:cNvSpPr/>
          <p:nvPr/>
        </p:nvSpPr>
        <p:spPr>
          <a:xfrm>
            <a:off x="548640" y="365760"/>
            <a:ext cx="7315200" cy="320040"/>
          </a:xfrm>
          <a:prstGeom prst="rect">
            <a:avLst/>
          </a:prstGeom>
          <a:noFill/>
          <a:ln/>
        </p:spPr>
        <p:txBody>
          <a:bodyPr wrap="square" lIns="0" tIns="0" rIns="0" bIns="0" rtlCol="0" anchor="ctr"/>
          <a:lstStyle/>
          <a:p>
            <a:pPr indent="0" marL="0">
              <a:buNone/>
            </a:pPr>
            <a:r>
              <a:rPr lang="en-US" sz="1300" b="1" spc="200" kern="0" dirty="0">
                <a:solidFill>
                  <a:srgbClr val="8FD0E8"/>
                </a:solidFill>
                <a:latin typeface="Calibri" pitchFamily="34" charset="0"/>
                <a:ea typeface="Calibri" pitchFamily="34" charset="-122"/>
                <a:cs typeface="Calibri" pitchFamily="34" charset="-120"/>
              </a:rPr>
              <a:t>KEY INSIGHTS &amp; RECOMMENDATIONS</a:t>
            </a:r>
            <a:endParaRPr lang="en-US" sz="1300" dirty="0"/>
          </a:p>
        </p:txBody>
      </p:sp>
      <p:sp>
        <p:nvSpPr>
          <p:cNvPr id="5" name="Text 3"/>
          <p:cNvSpPr/>
          <p:nvPr/>
        </p:nvSpPr>
        <p:spPr>
          <a:xfrm>
            <a:off x="548640" y="640080"/>
            <a:ext cx="73152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Conclusions</a:t>
            </a:r>
            <a:endParaRPr lang="en-US" sz="3000" dirty="0"/>
          </a:p>
        </p:txBody>
      </p:sp>
      <p:sp>
        <p:nvSpPr>
          <p:cNvPr id="6" name="Shape 4"/>
          <p:cNvSpPr/>
          <p:nvPr/>
        </p:nvSpPr>
        <p:spPr>
          <a:xfrm>
            <a:off x="548640" y="1600200"/>
            <a:ext cx="3520440" cy="1691640"/>
          </a:xfrm>
          <a:prstGeom prst="roundRect">
            <a:avLst>
              <a:gd name="adj" fmla="val 4324"/>
            </a:avLst>
          </a:prstGeom>
          <a:solidFill>
            <a:srgbClr val="065A82">
              <a:alpha val="35000"/>
            </a:srgbClr>
          </a:solidFill>
          <a:ln/>
        </p:spPr>
      </p:sp>
      <p:sp>
        <p:nvSpPr>
          <p:cNvPr id="7" name="Shape 5"/>
          <p:cNvSpPr/>
          <p:nvPr/>
        </p:nvSpPr>
        <p:spPr>
          <a:xfrm>
            <a:off x="731520" y="1783080"/>
            <a:ext cx="457200" cy="457200"/>
          </a:xfrm>
          <a:prstGeom prst="ellipse">
            <a:avLst/>
          </a:prstGeom>
          <a:solidFill>
            <a:srgbClr val="FFFFFF"/>
          </a:solidFill>
          <a:ln/>
        </p:spPr>
      </p:sp>
      <p:pic>
        <p:nvPicPr>
          <p:cNvPr id="8" name="Image 0" descr="/home/claude/icons/clock_teal.png">    </p:cNvPr>
          <p:cNvPicPr>
            <a:picLocks noChangeAspect="1"/>
          </p:cNvPicPr>
          <p:nvPr/>
        </p:nvPicPr>
        <p:blipFill>
          <a:blip r:embed="rId1"/>
          <a:stretch>
            <a:fillRect/>
          </a:stretch>
        </p:blipFill>
        <p:spPr>
          <a:xfrm>
            <a:off x="832104" y="1883664"/>
            <a:ext cx="256032" cy="256032"/>
          </a:xfrm>
          <a:prstGeom prst="rect">
            <a:avLst/>
          </a:prstGeom>
        </p:spPr>
      </p:pic>
      <p:sp>
        <p:nvSpPr>
          <p:cNvPr id="9" name="Text 6"/>
          <p:cNvSpPr/>
          <p:nvPr/>
        </p:nvSpPr>
        <p:spPr>
          <a:xfrm>
            <a:off x="1325880" y="1746504"/>
            <a:ext cx="26060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Holiday study time is low but improvable</a:t>
            </a:r>
            <a:endParaRPr lang="en-US" sz="1300" dirty="0"/>
          </a:p>
        </p:txBody>
      </p:sp>
      <p:sp>
        <p:nvSpPr>
          <p:cNvPr id="10" name="Text 7"/>
          <p:cNvSpPr/>
          <p:nvPr/>
        </p:nvSpPr>
        <p:spPr>
          <a:xfrm>
            <a:off x="749808" y="2377440"/>
            <a:ext cx="3118104" cy="868680"/>
          </a:xfrm>
          <a:prstGeom prst="rect">
            <a:avLst/>
          </a:prstGeom>
          <a:noFill/>
          <a:ln/>
        </p:spPr>
        <p:txBody>
          <a:bodyPr wrap="square" lIns="0" tIns="0" rIns="0" bIns="0" rtlCol="0" anchor="ctr"/>
          <a:lstStyle/>
          <a:p>
            <a:pPr indent="0" marL="0">
              <a:lnSpc>
                <a:spcPct val="115000"/>
              </a:lnSpc>
              <a:buNone/>
            </a:pPr>
            <a:r>
              <a:rPr lang="en-US" sz="1050" dirty="0">
                <a:solidFill>
                  <a:srgbClr val="C9D8E8"/>
                </a:solidFill>
                <a:latin typeface="Calibri" pitchFamily="34" charset="0"/>
                <a:ea typeface="Calibri" pitchFamily="34" charset="-122"/>
                <a:cs typeface="Calibri" pitchFamily="34" charset="-120"/>
              </a:rPr>
              <a:t>90% study 2 hours or less daily during holidays; even modest increases could shift outcomes for the majority.</a:t>
            </a:r>
            <a:endParaRPr lang="en-US" sz="1050" dirty="0"/>
          </a:p>
        </p:txBody>
      </p:sp>
      <p:sp>
        <p:nvSpPr>
          <p:cNvPr id="11" name="Shape 8"/>
          <p:cNvSpPr/>
          <p:nvPr/>
        </p:nvSpPr>
        <p:spPr>
          <a:xfrm>
            <a:off x="4315968" y="1600200"/>
            <a:ext cx="3520440" cy="1691640"/>
          </a:xfrm>
          <a:prstGeom prst="roundRect">
            <a:avLst>
              <a:gd name="adj" fmla="val 4324"/>
            </a:avLst>
          </a:prstGeom>
          <a:solidFill>
            <a:srgbClr val="065A82">
              <a:alpha val="35000"/>
            </a:srgbClr>
          </a:solidFill>
          <a:ln/>
        </p:spPr>
      </p:sp>
      <p:sp>
        <p:nvSpPr>
          <p:cNvPr id="12" name="Shape 9"/>
          <p:cNvSpPr/>
          <p:nvPr/>
        </p:nvSpPr>
        <p:spPr>
          <a:xfrm>
            <a:off x="4498848" y="1783080"/>
            <a:ext cx="457200" cy="457200"/>
          </a:xfrm>
          <a:prstGeom prst="ellipse">
            <a:avLst/>
          </a:prstGeom>
          <a:solidFill>
            <a:srgbClr val="FFFFFF"/>
          </a:solidFill>
          <a:ln/>
        </p:spPr>
      </p:sp>
      <p:pic>
        <p:nvPicPr>
          <p:cNvPr id="13" name="Image 1" descr="/home/claude/icons/mobile_teal.png">    </p:cNvPr>
          <p:cNvPicPr>
            <a:picLocks noChangeAspect="1"/>
          </p:cNvPicPr>
          <p:nvPr/>
        </p:nvPicPr>
        <p:blipFill>
          <a:blip r:embed="rId2"/>
          <a:stretch>
            <a:fillRect/>
          </a:stretch>
        </p:blipFill>
        <p:spPr>
          <a:xfrm>
            <a:off x="4599432" y="1883664"/>
            <a:ext cx="256032" cy="256032"/>
          </a:xfrm>
          <a:prstGeom prst="rect">
            <a:avLst/>
          </a:prstGeom>
        </p:spPr>
      </p:pic>
      <p:sp>
        <p:nvSpPr>
          <p:cNvPr id="14" name="Text 10"/>
          <p:cNvSpPr/>
          <p:nvPr/>
        </p:nvSpPr>
        <p:spPr>
          <a:xfrm>
            <a:off x="5093208" y="1746504"/>
            <a:ext cx="26060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Digital distraction is the top barrier</a:t>
            </a:r>
            <a:endParaRPr lang="en-US" sz="1300" dirty="0"/>
          </a:p>
        </p:txBody>
      </p:sp>
      <p:sp>
        <p:nvSpPr>
          <p:cNvPr id="15" name="Text 11"/>
          <p:cNvSpPr/>
          <p:nvPr/>
        </p:nvSpPr>
        <p:spPr>
          <a:xfrm>
            <a:off x="4517136" y="2377440"/>
            <a:ext cx="3118104" cy="868680"/>
          </a:xfrm>
          <a:prstGeom prst="rect">
            <a:avLst/>
          </a:prstGeom>
          <a:noFill/>
          <a:ln/>
        </p:spPr>
        <p:txBody>
          <a:bodyPr wrap="square" lIns="0" tIns="0" rIns="0" bIns="0" rtlCol="0" anchor="ctr"/>
          <a:lstStyle/>
          <a:p>
            <a:pPr indent="0" marL="0">
              <a:lnSpc>
                <a:spcPct val="115000"/>
              </a:lnSpc>
              <a:buNone/>
            </a:pPr>
            <a:r>
              <a:rPr lang="en-US" sz="1050" dirty="0">
                <a:solidFill>
                  <a:srgbClr val="C9D8E8"/>
                </a:solidFill>
                <a:latin typeface="Calibri" pitchFamily="34" charset="0"/>
                <a:ea typeface="Calibri" pitchFamily="34" charset="-122"/>
                <a:cs typeface="Calibri" pitchFamily="34" charset="-120"/>
              </a:rPr>
              <a:t>Excessive phone/social media (35%) and time management (30%) are the leading challenges - tackling these could unlock the largest gains.</a:t>
            </a:r>
            <a:endParaRPr lang="en-US" sz="1050" dirty="0"/>
          </a:p>
        </p:txBody>
      </p:sp>
      <p:sp>
        <p:nvSpPr>
          <p:cNvPr id="16" name="Shape 12"/>
          <p:cNvSpPr/>
          <p:nvPr/>
        </p:nvSpPr>
        <p:spPr>
          <a:xfrm>
            <a:off x="8083296" y="1600200"/>
            <a:ext cx="3520440" cy="1691640"/>
          </a:xfrm>
          <a:prstGeom prst="roundRect">
            <a:avLst>
              <a:gd name="adj" fmla="val 4324"/>
            </a:avLst>
          </a:prstGeom>
          <a:solidFill>
            <a:srgbClr val="065A82">
              <a:alpha val="35000"/>
            </a:srgbClr>
          </a:solidFill>
          <a:ln/>
        </p:spPr>
      </p:sp>
      <p:sp>
        <p:nvSpPr>
          <p:cNvPr id="17" name="Shape 13"/>
          <p:cNvSpPr/>
          <p:nvPr/>
        </p:nvSpPr>
        <p:spPr>
          <a:xfrm>
            <a:off x="8266176" y="1783080"/>
            <a:ext cx="457200" cy="457200"/>
          </a:xfrm>
          <a:prstGeom prst="ellipse">
            <a:avLst/>
          </a:prstGeom>
          <a:solidFill>
            <a:srgbClr val="FFFFFF"/>
          </a:solidFill>
          <a:ln/>
        </p:spPr>
      </p:sp>
      <p:pic>
        <p:nvPicPr>
          <p:cNvPr id="18" name="Image 2" descr="/home/claude/icons/calendar_teal.png">    </p:cNvPr>
          <p:cNvPicPr>
            <a:picLocks noChangeAspect="1"/>
          </p:cNvPicPr>
          <p:nvPr/>
        </p:nvPicPr>
        <p:blipFill>
          <a:blip r:embed="rId3"/>
          <a:stretch>
            <a:fillRect/>
          </a:stretch>
        </p:blipFill>
        <p:spPr>
          <a:xfrm>
            <a:off x="8366760" y="1883664"/>
            <a:ext cx="256032" cy="256032"/>
          </a:xfrm>
          <a:prstGeom prst="rect">
            <a:avLst/>
          </a:prstGeom>
        </p:spPr>
      </p:pic>
      <p:sp>
        <p:nvSpPr>
          <p:cNvPr id="19" name="Text 14"/>
          <p:cNvSpPr/>
          <p:nvPr/>
        </p:nvSpPr>
        <p:spPr>
          <a:xfrm>
            <a:off x="8860536" y="1746504"/>
            <a:ext cx="26060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Routine discipline is weak</a:t>
            </a:r>
            <a:endParaRPr lang="en-US" sz="1300" dirty="0"/>
          </a:p>
        </p:txBody>
      </p:sp>
      <p:sp>
        <p:nvSpPr>
          <p:cNvPr id="20" name="Text 15"/>
          <p:cNvSpPr/>
          <p:nvPr/>
        </p:nvSpPr>
        <p:spPr>
          <a:xfrm>
            <a:off x="8284464" y="2377440"/>
            <a:ext cx="3118104" cy="868680"/>
          </a:xfrm>
          <a:prstGeom prst="rect">
            <a:avLst/>
          </a:prstGeom>
          <a:noFill/>
          <a:ln/>
        </p:spPr>
        <p:txBody>
          <a:bodyPr wrap="square" lIns="0" tIns="0" rIns="0" bIns="0" rtlCol="0" anchor="ctr"/>
          <a:lstStyle/>
          <a:p>
            <a:pPr indent="0" marL="0">
              <a:lnSpc>
                <a:spcPct val="115000"/>
              </a:lnSpc>
              <a:buNone/>
            </a:pPr>
            <a:r>
              <a:rPr lang="en-US" sz="1050" dirty="0">
                <a:solidFill>
                  <a:srgbClr val="C9D8E8"/>
                </a:solidFill>
                <a:latin typeface="Calibri" pitchFamily="34" charset="0"/>
                <a:ea typeface="Calibri" pitchFamily="34" charset="-122"/>
                <a:cs typeface="Calibri" pitchFamily="34" charset="-120"/>
              </a:rPr>
              <a:t>Only 5% always follow a time table; structured routines, even loosely enforced, may help convert free time into productive study.</a:t>
            </a:r>
            <a:endParaRPr lang="en-US" sz="1050" dirty="0"/>
          </a:p>
        </p:txBody>
      </p:sp>
      <p:sp>
        <p:nvSpPr>
          <p:cNvPr id="21" name="Shape 16"/>
          <p:cNvSpPr/>
          <p:nvPr/>
        </p:nvSpPr>
        <p:spPr>
          <a:xfrm>
            <a:off x="548640" y="3566160"/>
            <a:ext cx="3520440" cy="1691640"/>
          </a:xfrm>
          <a:prstGeom prst="roundRect">
            <a:avLst>
              <a:gd name="adj" fmla="val 4324"/>
            </a:avLst>
          </a:prstGeom>
          <a:solidFill>
            <a:srgbClr val="065A82">
              <a:alpha val="35000"/>
            </a:srgbClr>
          </a:solidFill>
          <a:ln/>
        </p:spPr>
      </p:sp>
      <p:sp>
        <p:nvSpPr>
          <p:cNvPr id="22" name="Shape 17"/>
          <p:cNvSpPr/>
          <p:nvPr/>
        </p:nvSpPr>
        <p:spPr>
          <a:xfrm>
            <a:off x="731520" y="3749040"/>
            <a:ext cx="457200" cy="457200"/>
          </a:xfrm>
          <a:prstGeom prst="ellipse">
            <a:avLst/>
          </a:prstGeom>
          <a:solidFill>
            <a:srgbClr val="FFFFFF"/>
          </a:solidFill>
          <a:ln/>
        </p:spPr>
      </p:sp>
      <p:pic>
        <p:nvPicPr>
          <p:cNvPr id="23" name="Image 3" descr="/home/claude/icons/robot_teal.png">    </p:cNvPr>
          <p:cNvPicPr>
            <a:picLocks noChangeAspect="1"/>
          </p:cNvPicPr>
          <p:nvPr/>
        </p:nvPicPr>
        <p:blipFill>
          <a:blip r:embed="rId4"/>
          <a:stretch>
            <a:fillRect/>
          </a:stretch>
        </p:blipFill>
        <p:spPr>
          <a:xfrm>
            <a:off x="832104" y="3849624"/>
            <a:ext cx="256032" cy="256032"/>
          </a:xfrm>
          <a:prstGeom prst="rect">
            <a:avLst/>
          </a:prstGeom>
        </p:spPr>
      </p:pic>
      <p:sp>
        <p:nvSpPr>
          <p:cNvPr id="24" name="Text 18"/>
          <p:cNvSpPr/>
          <p:nvPr/>
        </p:nvSpPr>
        <p:spPr>
          <a:xfrm>
            <a:off x="1325880" y="3712464"/>
            <a:ext cx="26060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AI tools are widely adopted</a:t>
            </a:r>
            <a:endParaRPr lang="en-US" sz="1300" dirty="0"/>
          </a:p>
        </p:txBody>
      </p:sp>
      <p:sp>
        <p:nvSpPr>
          <p:cNvPr id="25" name="Text 19"/>
          <p:cNvSpPr/>
          <p:nvPr/>
        </p:nvSpPr>
        <p:spPr>
          <a:xfrm>
            <a:off x="749808" y="4343400"/>
            <a:ext cx="3118104" cy="868680"/>
          </a:xfrm>
          <a:prstGeom prst="rect">
            <a:avLst/>
          </a:prstGeom>
          <a:noFill/>
          <a:ln/>
        </p:spPr>
        <p:txBody>
          <a:bodyPr wrap="square" lIns="0" tIns="0" rIns="0" bIns="0" rtlCol="0" anchor="ctr"/>
          <a:lstStyle/>
          <a:p>
            <a:pPr indent="0" marL="0">
              <a:lnSpc>
                <a:spcPct val="115000"/>
              </a:lnSpc>
              <a:buNone/>
            </a:pPr>
            <a:r>
              <a:rPr lang="en-US" sz="1050" dirty="0">
                <a:solidFill>
                  <a:srgbClr val="C9D8E8"/>
                </a:solidFill>
                <a:latin typeface="Calibri" pitchFamily="34" charset="0"/>
                <a:ea typeface="Calibri" pitchFamily="34" charset="-122"/>
                <a:cs typeface="Calibri" pitchFamily="34" charset="-120"/>
              </a:rPr>
              <a:t>100% of students use AI tools at least occasionally, with 50% daily - a strong foundation for AI-assisted, self-paced holiday learning plans.</a:t>
            </a:r>
            <a:endParaRPr lang="en-US" sz="1050" dirty="0"/>
          </a:p>
        </p:txBody>
      </p:sp>
      <p:sp>
        <p:nvSpPr>
          <p:cNvPr id="26" name="Shape 20"/>
          <p:cNvSpPr/>
          <p:nvPr/>
        </p:nvSpPr>
        <p:spPr>
          <a:xfrm>
            <a:off x="4315968" y="3566160"/>
            <a:ext cx="3520440" cy="1691640"/>
          </a:xfrm>
          <a:prstGeom prst="roundRect">
            <a:avLst>
              <a:gd name="adj" fmla="val 4324"/>
            </a:avLst>
          </a:prstGeom>
          <a:solidFill>
            <a:srgbClr val="065A82">
              <a:alpha val="35000"/>
            </a:srgbClr>
          </a:solidFill>
          <a:ln/>
        </p:spPr>
      </p:sp>
      <p:sp>
        <p:nvSpPr>
          <p:cNvPr id="27" name="Shape 21"/>
          <p:cNvSpPr/>
          <p:nvPr/>
        </p:nvSpPr>
        <p:spPr>
          <a:xfrm>
            <a:off x="4498848" y="3749040"/>
            <a:ext cx="457200" cy="457200"/>
          </a:xfrm>
          <a:prstGeom prst="ellipse">
            <a:avLst/>
          </a:prstGeom>
          <a:solidFill>
            <a:srgbClr val="FFFFFF"/>
          </a:solidFill>
          <a:ln/>
        </p:spPr>
      </p:sp>
      <p:pic>
        <p:nvPicPr>
          <p:cNvPr id="28" name="Image 4" descr="/home/claude/icons/chartline_teal.png">    </p:cNvPr>
          <p:cNvPicPr>
            <a:picLocks noChangeAspect="1"/>
          </p:cNvPicPr>
          <p:nvPr/>
        </p:nvPicPr>
        <p:blipFill>
          <a:blip r:embed="rId5"/>
          <a:stretch>
            <a:fillRect/>
          </a:stretch>
        </p:blipFill>
        <p:spPr>
          <a:xfrm>
            <a:off x="4599432" y="3849624"/>
            <a:ext cx="256032" cy="256032"/>
          </a:xfrm>
          <a:prstGeom prst="rect">
            <a:avLst/>
          </a:prstGeom>
        </p:spPr>
      </p:pic>
      <p:sp>
        <p:nvSpPr>
          <p:cNvPr id="29" name="Text 22"/>
          <p:cNvSpPr/>
          <p:nvPr/>
        </p:nvSpPr>
        <p:spPr>
          <a:xfrm>
            <a:off x="5093208" y="3712464"/>
            <a:ext cx="26060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Strong academic base, wide CGPA spread</a:t>
            </a:r>
            <a:endParaRPr lang="en-US" sz="1300" dirty="0"/>
          </a:p>
        </p:txBody>
      </p:sp>
      <p:sp>
        <p:nvSpPr>
          <p:cNvPr id="30" name="Text 23"/>
          <p:cNvSpPr/>
          <p:nvPr/>
        </p:nvSpPr>
        <p:spPr>
          <a:xfrm>
            <a:off x="4517136" y="4343400"/>
            <a:ext cx="3118104" cy="868680"/>
          </a:xfrm>
          <a:prstGeom prst="rect">
            <a:avLst/>
          </a:prstGeom>
          <a:noFill/>
          <a:ln/>
        </p:spPr>
        <p:txBody>
          <a:bodyPr wrap="square" lIns="0" tIns="0" rIns="0" bIns="0" rtlCol="0" anchor="ctr"/>
          <a:lstStyle/>
          <a:p>
            <a:pPr indent="0" marL="0">
              <a:lnSpc>
                <a:spcPct val="115000"/>
              </a:lnSpc>
              <a:buNone/>
            </a:pPr>
            <a:r>
              <a:rPr lang="en-US" sz="1050" dirty="0">
                <a:solidFill>
                  <a:srgbClr val="C9D8E8"/>
                </a:solidFill>
                <a:latin typeface="Calibri" pitchFamily="34" charset="0"/>
                <a:ea typeface="Calibri" pitchFamily="34" charset="-122"/>
                <a:cs typeface="Calibri" pitchFamily="34" charset="-120"/>
              </a:rPr>
              <a:t>75% previously scored above 85%, yet current CGPA spans 6.0-9.55 - habit changes (not just ability) likely drive the spread.</a:t>
            </a:r>
            <a:endParaRPr lang="en-US" sz="1050" dirty="0"/>
          </a:p>
        </p:txBody>
      </p:sp>
      <p:sp>
        <p:nvSpPr>
          <p:cNvPr id="31" name="Shape 24"/>
          <p:cNvSpPr/>
          <p:nvPr/>
        </p:nvSpPr>
        <p:spPr>
          <a:xfrm>
            <a:off x="8083296" y="3566160"/>
            <a:ext cx="3520440" cy="1691640"/>
          </a:xfrm>
          <a:prstGeom prst="roundRect">
            <a:avLst>
              <a:gd name="adj" fmla="val 4324"/>
            </a:avLst>
          </a:prstGeom>
          <a:solidFill>
            <a:srgbClr val="065A82">
              <a:alpha val="35000"/>
            </a:srgbClr>
          </a:solidFill>
          <a:ln/>
        </p:spPr>
      </p:sp>
      <p:sp>
        <p:nvSpPr>
          <p:cNvPr id="32" name="Shape 25"/>
          <p:cNvSpPr/>
          <p:nvPr/>
        </p:nvSpPr>
        <p:spPr>
          <a:xfrm>
            <a:off x="8266176" y="3749040"/>
            <a:ext cx="457200" cy="457200"/>
          </a:xfrm>
          <a:prstGeom prst="ellipse">
            <a:avLst/>
          </a:prstGeom>
          <a:solidFill>
            <a:srgbClr val="FFFFFF"/>
          </a:solidFill>
          <a:ln/>
        </p:spPr>
      </p:sp>
      <p:pic>
        <p:nvPicPr>
          <p:cNvPr id="33" name="Image 5" descr="/home/claude/icons/calendarcheck_teal.png">    </p:cNvPr>
          <p:cNvPicPr>
            <a:picLocks noChangeAspect="1"/>
          </p:cNvPicPr>
          <p:nvPr/>
        </p:nvPicPr>
        <p:blipFill>
          <a:blip r:embed="rId6"/>
          <a:stretch>
            <a:fillRect/>
          </a:stretch>
        </p:blipFill>
        <p:spPr>
          <a:xfrm>
            <a:off x="8366760" y="3849624"/>
            <a:ext cx="256032" cy="256032"/>
          </a:xfrm>
          <a:prstGeom prst="rect">
            <a:avLst/>
          </a:prstGeom>
        </p:spPr>
      </p:pic>
      <p:sp>
        <p:nvSpPr>
          <p:cNvPr id="34" name="Text 26"/>
          <p:cNvSpPr/>
          <p:nvPr/>
        </p:nvSpPr>
        <p:spPr>
          <a:xfrm>
            <a:off x="8860536" y="3712464"/>
            <a:ext cx="260604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Attendance attitudes need clarity</a:t>
            </a:r>
            <a:endParaRPr lang="en-US" sz="1300" dirty="0"/>
          </a:p>
        </p:txBody>
      </p:sp>
      <p:sp>
        <p:nvSpPr>
          <p:cNvPr id="35" name="Text 27"/>
          <p:cNvSpPr/>
          <p:nvPr/>
        </p:nvSpPr>
        <p:spPr>
          <a:xfrm>
            <a:off x="8284464" y="4343400"/>
            <a:ext cx="3118104" cy="868680"/>
          </a:xfrm>
          <a:prstGeom prst="rect">
            <a:avLst/>
          </a:prstGeom>
          <a:noFill/>
          <a:ln/>
        </p:spPr>
        <p:txBody>
          <a:bodyPr wrap="square" lIns="0" tIns="0" rIns="0" bIns="0" rtlCol="0" anchor="ctr"/>
          <a:lstStyle/>
          <a:p>
            <a:pPr indent="0" marL="0">
              <a:lnSpc>
                <a:spcPct val="115000"/>
              </a:lnSpc>
              <a:buNone/>
            </a:pPr>
            <a:r>
              <a:rPr lang="en-US" sz="1050" dirty="0">
                <a:solidFill>
                  <a:srgbClr val="C9D8E8"/>
                </a:solidFill>
                <a:latin typeface="Calibri" pitchFamily="34" charset="0"/>
                <a:ea typeface="Calibri" pitchFamily="34" charset="-122"/>
                <a:cs typeface="Calibri" pitchFamily="34" charset="-120"/>
              </a:rPr>
              <a:t>50% are neutral on whether attendance affects performance - clearer communication of its impact could improve engagement.</a:t>
            </a:r>
            <a:endParaRPr lang="en-US" sz="1050" dirty="0"/>
          </a:p>
        </p:txBody>
      </p:sp>
      <p:sp>
        <p:nvSpPr>
          <p:cNvPr id="36" name="Text 28"/>
          <p:cNvSpPr/>
          <p:nvPr/>
        </p:nvSpPr>
        <p:spPr>
          <a:xfrm>
            <a:off x="457200" y="6473952"/>
            <a:ext cx="8686800" cy="274320"/>
          </a:xfrm>
          <a:prstGeom prst="rect">
            <a:avLst/>
          </a:prstGeom>
          <a:noFill/>
          <a:ln/>
        </p:spPr>
        <p:txBody>
          <a:bodyPr wrap="square" lIns="0" tIns="0" rIns="0" bIns="0" rtlCol="0" anchor="ctr"/>
          <a:lstStyle/>
          <a:p>
            <a:pPr algn="l" indent="0" marL="0">
              <a:buNone/>
            </a:pPr>
            <a:r>
              <a:rPr lang="en-US" sz="900" dirty="0">
                <a:solidFill>
                  <a:srgbClr val="AFC4D6"/>
                </a:solidFill>
                <a:latin typeface="Calibri" pitchFamily="34" charset="0"/>
                <a:ea typeface="Calibri" pitchFamily="34" charset="-122"/>
                <a:cs typeface="Calibri" pitchFamily="34" charset="-120"/>
              </a:rPr>
              <a:t>Study Habits &amp; Academic Performance During Holidays  |  Data Science Mini Project</a:t>
            </a:r>
            <a:endParaRPr lang="en-US" sz="900" dirty="0"/>
          </a:p>
        </p:txBody>
      </p:sp>
      <p:sp>
        <p:nvSpPr>
          <p:cNvPr id="37" name="Text 29"/>
          <p:cNvSpPr/>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AFC4D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 Habits and Academic Performance of Engineering Students During Holidays</dc:title>
  <dc:subject>PptxGenJS Presentation</dc:subject>
  <dc:creator>Data Science Mini Project</dc:creator>
  <cp:lastModifiedBy>Data Science Mini Project</cp:lastModifiedBy>
  <cp:revision>1</cp:revision>
  <dcterms:created xsi:type="dcterms:W3CDTF">2026-06-14T05:04:31Z</dcterms:created>
  <dcterms:modified xsi:type="dcterms:W3CDTF">2026-06-14T05:04:31Z</dcterms:modified>
</cp:coreProperties>
</file>